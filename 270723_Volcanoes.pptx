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60" r:id="rId2"/>
    <p:sldId id="257" r:id="rId3"/>
    <p:sldId id="258" r:id="rId4"/>
    <p:sldId id="259" r:id="rId5"/>
    <p:sldId id="261" r:id="rId6"/>
  </p:sldIdLst>
  <p:sldSz cx="12192000" cy="6858000"/>
  <p:notesSz cx="6858000" cy="9144000"/>
  <p:embeddedFontLst>
    <p:embeddedFont>
      <p:font typeface="D-DIN" panose="020B0504030202030204" pitchFamily="34" charset="77"/>
      <p:regular r:id="rId8"/>
      <p:bold r:id="rId9"/>
      <p:italic r:id="rId10"/>
    </p:embeddedFont>
    <p:embeddedFont>
      <p:font typeface="D-DIN Condensed" panose="020B0504030202030204" pitchFamily="34" charset="77"/>
      <p:regular r:id="rId11"/>
      <p:bold r:id="rId12"/>
    </p:embeddedFont>
    <p:embeddedFont>
      <p:font typeface="Roboto" panose="02000000000000000000" pitchFamily="2" charset="0"/>
      <p:regular r:id="rId13"/>
      <p:bold r:id="rId14"/>
      <p:italic r:id="rId15"/>
      <p:boldItalic r:id="rId16"/>
    </p:embeddedFont>
    <p:embeddedFont>
      <p:font typeface="Syne" pitchFamily="2" charset="77"/>
      <p:regular r:id="rId17"/>
      <p:bold r:id="rId18"/>
    </p:embeddedFont>
    <p:embeddedFont>
      <p:font typeface="Walbaum Display" panose="02070503090703020303" pitchFamily="18"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D3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D427D-3C89-E54C-8CBF-A0A69909919F}" v="1" dt="2024-02-27T06:54:15.0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3"/>
    <p:restoredTop sz="94694"/>
  </p:normalViewPr>
  <p:slideViewPr>
    <p:cSldViewPr snapToGrid="0" showGuides="1">
      <p:cViewPr varScale="1">
        <p:scale>
          <a:sx n="117" d="100"/>
          <a:sy n="117" d="100"/>
        </p:scale>
        <p:origin x="82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4.fntdata"/><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presProps" Target="presProps.xml"/><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font" Target="fonts/font15.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EA01B5-212A-5846-B408-AD45099AD741}" type="datetimeFigureOut">
              <a:rPr lang="en-US" smtClean="0"/>
              <a:t>2/27/24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6E33F-090A-0842-AA70-DA0D32E0F9DA}" type="slidenum">
              <a:rPr lang="en-US" smtClean="0"/>
              <a:t>‹#›</a:t>
            </a:fld>
            <a:endParaRPr lang="en-US"/>
          </a:p>
        </p:txBody>
      </p:sp>
    </p:spTree>
    <p:extLst>
      <p:ext uri="{BB962C8B-B14F-4D97-AF65-F5344CB8AC3E}">
        <p14:creationId xmlns:p14="http://schemas.microsoft.com/office/powerpoint/2010/main" val="4061936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6E33F-090A-0842-AA70-DA0D32E0F9DA}" type="slidenum">
              <a:rPr lang="en-US" smtClean="0"/>
              <a:t>1</a:t>
            </a:fld>
            <a:endParaRPr lang="en-US"/>
          </a:p>
        </p:txBody>
      </p:sp>
    </p:spTree>
    <p:extLst>
      <p:ext uri="{BB962C8B-B14F-4D97-AF65-F5344CB8AC3E}">
        <p14:creationId xmlns:p14="http://schemas.microsoft.com/office/powerpoint/2010/main" val="3688609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6E33F-090A-0842-AA70-DA0D32E0F9DA}" type="slidenum">
              <a:rPr lang="en-US" smtClean="0"/>
              <a:t>2</a:t>
            </a:fld>
            <a:endParaRPr lang="en-US"/>
          </a:p>
        </p:txBody>
      </p:sp>
    </p:spTree>
    <p:extLst>
      <p:ext uri="{BB962C8B-B14F-4D97-AF65-F5344CB8AC3E}">
        <p14:creationId xmlns:p14="http://schemas.microsoft.com/office/powerpoint/2010/main" val="1396907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6E33F-090A-0842-AA70-DA0D32E0F9DA}" type="slidenum">
              <a:rPr lang="en-US" smtClean="0"/>
              <a:t>3</a:t>
            </a:fld>
            <a:endParaRPr lang="en-US"/>
          </a:p>
        </p:txBody>
      </p:sp>
    </p:spTree>
    <p:extLst>
      <p:ext uri="{BB962C8B-B14F-4D97-AF65-F5344CB8AC3E}">
        <p14:creationId xmlns:p14="http://schemas.microsoft.com/office/powerpoint/2010/main" val="492340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6E33F-090A-0842-AA70-DA0D32E0F9DA}" type="slidenum">
              <a:rPr lang="en-US" smtClean="0"/>
              <a:t>4</a:t>
            </a:fld>
            <a:endParaRPr lang="en-US"/>
          </a:p>
        </p:txBody>
      </p:sp>
    </p:spTree>
    <p:extLst>
      <p:ext uri="{BB962C8B-B14F-4D97-AF65-F5344CB8AC3E}">
        <p14:creationId xmlns:p14="http://schemas.microsoft.com/office/powerpoint/2010/main" val="3047352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6E33F-090A-0842-AA70-DA0D32E0F9DA}" type="slidenum">
              <a:rPr lang="en-US" smtClean="0"/>
              <a:t>5</a:t>
            </a:fld>
            <a:endParaRPr lang="en-US"/>
          </a:p>
        </p:txBody>
      </p:sp>
    </p:spTree>
    <p:extLst>
      <p:ext uri="{BB962C8B-B14F-4D97-AF65-F5344CB8AC3E}">
        <p14:creationId xmlns:p14="http://schemas.microsoft.com/office/powerpoint/2010/main" val="3983657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0D5E3-7C3B-C8B0-2376-EBE9D18CF8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002D39-3E75-130B-3C71-71127F9600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E7FECC-CB01-7BB9-E3FD-282C4621B705}"/>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5" name="Footer Placeholder 4">
            <a:extLst>
              <a:ext uri="{FF2B5EF4-FFF2-40B4-BE49-F238E27FC236}">
                <a16:creationId xmlns:a16="http://schemas.microsoft.com/office/drawing/2014/main" id="{A39AE389-962F-BB8C-EE4D-ED14830D17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8FA34-1D54-8755-0EEE-E3C820A48C7D}"/>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792874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8B381-2489-6F99-63AF-0EE1528043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DDE0F8-77E3-1825-7C47-AEB310C75A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F35ECF-5354-62C4-A5B3-4A3818B6A193}"/>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5" name="Footer Placeholder 4">
            <a:extLst>
              <a:ext uri="{FF2B5EF4-FFF2-40B4-BE49-F238E27FC236}">
                <a16:creationId xmlns:a16="http://schemas.microsoft.com/office/drawing/2014/main" id="{05D05E36-D033-42DC-34D5-5FE217648F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FEB29E-6E71-4B70-CD86-475584EC5D4C}"/>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290433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4837C-4EFA-FB18-1320-2C3BC4626D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E0B9C9-65FC-D7F1-72D1-9163A2EB64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F4E20B-B162-A617-ABED-0A41C2706CFA}"/>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5" name="Footer Placeholder 4">
            <a:extLst>
              <a:ext uri="{FF2B5EF4-FFF2-40B4-BE49-F238E27FC236}">
                <a16:creationId xmlns:a16="http://schemas.microsoft.com/office/drawing/2014/main" id="{F7B76642-7B2D-C514-EE4E-C96A7F5A7D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AEF925-4F9F-78E5-53B4-F724E7BC6E74}"/>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2598715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3A6C8-5F15-3CFC-EB17-7A97F448F1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250FD5-64DD-11BA-8221-ED63D21D27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0F5404-9666-1F7F-6DDE-21E7849B3B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241FD4-A752-17F0-B650-CACA0E2A8DC2}"/>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6" name="Footer Placeholder 5">
            <a:extLst>
              <a:ext uri="{FF2B5EF4-FFF2-40B4-BE49-F238E27FC236}">
                <a16:creationId xmlns:a16="http://schemas.microsoft.com/office/drawing/2014/main" id="{4062BB17-892F-372B-02B1-82AC5CCA82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8F34AC-AA7F-F852-E3A0-1F4EB3BF8AD6}"/>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2466260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F1177-F1C1-3C37-D5E6-43FE743267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9917AD-41FA-25D3-8189-A3E3DD29F4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8F7C59-5230-FA7E-8E79-410D7D6A0D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977184-8E2C-7660-4DD3-AB1288525E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A539CA-7FA7-B446-2164-F42DCE9238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BF706E-5FA0-F163-9F4A-5B24D02FCBFA}"/>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8" name="Footer Placeholder 7">
            <a:extLst>
              <a:ext uri="{FF2B5EF4-FFF2-40B4-BE49-F238E27FC236}">
                <a16:creationId xmlns:a16="http://schemas.microsoft.com/office/drawing/2014/main" id="{3D71CCD8-4DF4-6B3C-B7F3-6EE215D8BC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72EBBD-8F74-3AFB-50A8-828C0BC885F2}"/>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566210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77E30-A9B6-A594-E831-755D54D46D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0D2E99-B64A-E84E-95B7-E55BD4AF7B62}"/>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4" name="Footer Placeholder 3">
            <a:extLst>
              <a:ext uri="{FF2B5EF4-FFF2-40B4-BE49-F238E27FC236}">
                <a16:creationId xmlns:a16="http://schemas.microsoft.com/office/drawing/2014/main" id="{078AD656-F784-1110-453E-C8343B9D12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AFD89D-74C7-BCD7-BE02-6A8621EA8DE7}"/>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1007947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F633B5-E184-E551-F95F-0DEA3DA5D3C3}"/>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3" name="Footer Placeholder 2">
            <a:extLst>
              <a:ext uri="{FF2B5EF4-FFF2-40B4-BE49-F238E27FC236}">
                <a16:creationId xmlns:a16="http://schemas.microsoft.com/office/drawing/2014/main" id="{34361E1F-0CCB-2236-FA42-FDD66BE556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7F6552-9F86-9F73-71E2-5EE8F8996423}"/>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2791458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28E4-9F21-5A77-E06B-7ED0DC5497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717A34-2F92-0CBF-58B0-894846EF2B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584BFC-57C5-B613-C8C9-A3C668491E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6AD44D-F1B7-625F-290B-1504D2BB6A86}"/>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6" name="Footer Placeholder 5">
            <a:extLst>
              <a:ext uri="{FF2B5EF4-FFF2-40B4-BE49-F238E27FC236}">
                <a16:creationId xmlns:a16="http://schemas.microsoft.com/office/drawing/2014/main" id="{54632E7D-98EE-A64E-63F3-6AA2362C3B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0B4B55-E348-4477-F09F-409EDEC98EE4}"/>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2656238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89068-4BEC-676F-9D9E-9251B6B85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22E8E5-C464-ADB6-73D5-D090CBFB0F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D316B1-AA27-3ADC-8621-C4BD7458F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A750CD-E6D1-F775-D108-9B3DA3C78E87}"/>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6" name="Footer Placeholder 5">
            <a:extLst>
              <a:ext uri="{FF2B5EF4-FFF2-40B4-BE49-F238E27FC236}">
                <a16:creationId xmlns:a16="http://schemas.microsoft.com/office/drawing/2014/main" id="{E774F254-6AB6-3B5E-4ACF-7CC0458795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F43A48-D1F7-9FEB-334D-F31D47075E41}"/>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449122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AE0F8-680D-FE0D-00CF-2DD60E120D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CB6EA6-B3D1-1FA5-4317-8355BBAC30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A92CD5-29D8-4238-CFE3-995343C9D75F}"/>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5" name="Footer Placeholder 4">
            <a:extLst>
              <a:ext uri="{FF2B5EF4-FFF2-40B4-BE49-F238E27FC236}">
                <a16:creationId xmlns:a16="http://schemas.microsoft.com/office/drawing/2014/main" id="{9A56FC51-D5A8-1916-6154-C7D75DAF77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E1E96F-F38F-E999-D3D1-463C7483E822}"/>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2834332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67C4AA-B395-8925-8BCC-FB3F3E0534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D97F15-02D7-22C4-6B3A-64484C9757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61729-8E41-ABE5-B688-1954DC87EAB0}"/>
              </a:ext>
            </a:extLst>
          </p:cNvPr>
          <p:cNvSpPr>
            <a:spLocks noGrp="1"/>
          </p:cNvSpPr>
          <p:nvPr>
            <p:ph type="dt" sz="half" idx="10"/>
          </p:nvPr>
        </p:nvSpPr>
        <p:spPr/>
        <p:txBody>
          <a:bodyPr/>
          <a:lstStyle/>
          <a:p>
            <a:fld id="{261300F7-991E-4B4F-B0E1-083BADB13AF7}" type="datetimeFigureOut">
              <a:rPr lang="en-US" smtClean="0"/>
              <a:t>2/27/24</a:t>
            </a:fld>
            <a:endParaRPr lang="en-US"/>
          </a:p>
        </p:txBody>
      </p:sp>
      <p:sp>
        <p:nvSpPr>
          <p:cNvPr id="5" name="Footer Placeholder 4">
            <a:extLst>
              <a:ext uri="{FF2B5EF4-FFF2-40B4-BE49-F238E27FC236}">
                <a16:creationId xmlns:a16="http://schemas.microsoft.com/office/drawing/2014/main" id="{D8E1B310-9C11-D603-EEC1-B267FA3D55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972527-1A89-7E3C-ACA4-1B8692976BC6}"/>
              </a:ext>
            </a:extLst>
          </p:cNvPr>
          <p:cNvSpPr>
            <a:spLocks noGrp="1"/>
          </p:cNvSpPr>
          <p:nvPr>
            <p:ph type="sldNum" sz="quarter" idx="12"/>
          </p:nvPr>
        </p:nvSpPr>
        <p:spPr/>
        <p:txBody>
          <a:bodyPr/>
          <a:lstStyle/>
          <a:p>
            <a:fld id="{4F3B2E06-A7B3-F249-B798-C391218831A1}" type="slidenum">
              <a:rPr lang="en-US" smtClean="0"/>
              <a:t>‹#›</a:t>
            </a:fld>
            <a:endParaRPr lang="en-US"/>
          </a:p>
        </p:txBody>
      </p:sp>
    </p:spTree>
    <p:extLst>
      <p:ext uri="{BB962C8B-B14F-4D97-AF65-F5344CB8AC3E}">
        <p14:creationId xmlns:p14="http://schemas.microsoft.com/office/powerpoint/2010/main" val="3662503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62EBF9-00D6-BED9-806E-D939388910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784C78-C15C-D1FC-AA56-3FE1D77364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6D83C0-A77A-C937-13D9-55A9C67E05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1300F7-991E-4B4F-B0E1-083BADB13AF7}" type="datetimeFigureOut">
              <a:rPr lang="en-US" smtClean="0"/>
              <a:t>2/27/24</a:t>
            </a:fld>
            <a:endParaRPr lang="en-US"/>
          </a:p>
        </p:txBody>
      </p:sp>
      <p:sp>
        <p:nvSpPr>
          <p:cNvPr id="5" name="Footer Placeholder 4">
            <a:extLst>
              <a:ext uri="{FF2B5EF4-FFF2-40B4-BE49-F238E27FC236}">
                <a16:creationId xmlns:a16="http://schemas.microsoft.com/office/drawing/2014/main" id="{3F256681-1B52-787F-FAB8-BC7337E0BD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749E93B-1B65-5422-0A00-3469E790C6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3B2E06-A7B3-F249-B798-C391218831A1}" type="slidenum">
              <a:rPr lang="en-US" smtClean="0"/>
              <a:t>‹#›</a:t>
            </a:fld>
            <a:endParaRPr lang="en-US"/>
          </a:p>
        </p:txBody>
      </p:sp>
    </p:spTree>
    <p:extLst>
      <p:ext uri="{BB962C8B-B14F-4D97-AF65-F5344CB8AC3E}">
        <p14:creationId xmlns:p14="http://schemas.microsoft.com/office/powerpoint/2010/main" val="2473923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7" name="Picture 16" descr="A lava flowing into a mountain&#10;&#10;Description automatically generated">
            <a:extLst>
              <a:ext uri="{FF2B5EF4-FFF2-40B4-BE49-F238E27FC236}">
                <a16:creationId xmlns:a16="http://schemas.microsoft.com/office/drawing/2014/main" id="{45B4F794-347D-C4C7-6828-8C48DA0457B6}"/>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4125685" y="0"/>
            <a:ext cx="3995058" cy="6858000"/>
          </a:xfrm>
          <a:prstGeom prst="rect">
            <a:avLst/>
          </a:prstGeom>
        </p:spPr>
      </p:pic>
      <p:sp>
        <p:nvSpPr>
          <p:cNvPr id="5" name="TextBox 4">
            <a:extLst>
              <a:ext uri="{FF2B5EF4-FFF2-40B4-BE49-F238E27FC236}">
                <a16:creationId xmlns:a16="http://schemas.microsoft.com/office/drawing/2014/main" id="{C16268D2-F232-7CC4-6D25-015D70F68D16}"/>
              </a:ext>
            </a:extLst>
          </p:cNvPr>
          <p:cNvSpPr txBox="1"/>
          <p:nvPr/>
        </p:nvSpPr>
        <p:spPr>
          <a:xfrm>
            <a:off x="3788228" y="948001"/>
            <a:ext cx="4615544" cy="1107996"/>
          </a:xfrm>
          <a:prstGeom prst="rect">
            <a:avLst/>
          </a:prstGeom>
          <a:noFill/>
        </p:spPr>
        <p:txBody>
          <a:bodyPr wrap="square" rtlCol="0">
            <a:spAutoFit/>
          </a:bodyPr>
          <a:lstStyle/>
          <a:p>
            <a:pPr algn="ctr"/>
            <a:r>
              <a:rPr lang="en-US" sz="6600" dirty="0">
                <a:solidFill>
                  <a:schemeClr val="bg1"/>
                </a:solidFill>
                <a:latin typeface="Walbaum Display" panose="02070303090703020303" pitchFamily="18" charset="0"/>
                <a:ea typeface="STIX Two Math" panose="02020603050405020304" pitchFamily="18" charset="0"/>
                <a:cs typeface="STIX Two Math" panose="02020603050405020304" pitchFamily="18" charset="0"/>
              </a:rPr>
              <a:t>SCIENCE</a:t>
            </a:r>
          </a:p>
        </p:txBody>
      </p:sp>
      <p:sp>
        <p:nvSpPr>
          <p:cNvPr id="9" name="TextBox 8">
            <a:extLst>
              <a:ext uri="{FF2B5EF4-FFF2-40B4-BE49-F238E27FC236}">
                <a16:creationId xmlns:a16="http://schemas.microsoft.com/office/drawing/2014/main" id="{4F04C3CB-7632-7E89-646C-A493D1035D87}"/>
              </a:ext>
            </a:extLst>
          </p:cNvPr>
          <p:cNvSpPr txBox="1"/>
          <p:nvPr/>
        </p:nvSpPr>
        <p:spPr>
          <a:xfrm>
            <a:off x="3788228" y="1829438"/>
            <a:ext cx="4615544" cy="523220"/>
          </a:xfrm>
          <a:prstGeom prst="rect">
            <a:avLst/>
          </a:prstGeom>
          <a:noFill/>
        </p:spPr>
        <p:txBody>
          <a:bodyPr wrap="square" rtlCol="0">
            <a:spAutoFit/>
          </a:bodyPr>
          <a:lstStyle/>
          <a:p>
            <a:pPr algn="ctr"/>
            <a:r>
              <a:rPr lang="en-US" sz="2800" dirty="0">
                <a:solidFill>
                  <a:schemeClr val="bg1"/>
                </a:solidFill>
                <a:latin typeface="Walbaum Display" panose="02070303090703020303" pitchFamily="18" charset="0"/>
                <a:ea typeface="STIX Two Math" panose="02020603050405020304" pitchFamily="18" charset="0"/>
                <a:cs typeface="STIX Two Math" panose="02020603050405020304" pitchFamily="18" charset="0"/>
              </a:rPr>
              <a:t>PROJECT</a:t>
            </a:r>
          </a:p>
        </p:txBody>
      </p:sp>
      <p:sp>
        <p:nvSpPr>
          <p:cNvPr id="13" name="TextBox 12">
            <a:extLst>
              <a:ext uri="{FF2B5EF4-FFF2-40B4-BE49-F238E27FC236}">
                <a16:creationId xmlns:a16="http://schemas.microsoft.com/office/drawing/2014/main" id="{90FFCD08-CDC1-7A1A-C5B7-109F024A1DC6}"/>
              </a:ext>
            </a:extLst>
          </p:cNvPr>
          <p:cNvSpPr txBox="1"/>
          <p:nvPr/>
        </p:nvSpPr>
        <p:spPr>
          <a:xfrm>
            <a:off x="4267198" y="882685"/>
            <a:ext cx="1121230" cy="276999"/>
          </a:xfrm>
          <a:prstGeom prst="rect">
            <a:avLst/>
          </a:prstGeom>
          <a:noFill/>
        </p:spPr>
        <p:txBody>
          <a:bodyPr wrap="square" rtlCol="0">
            <a:spAutoFit/>
          </a:bodyPr>
          <a:lstStyle/>
          <a:p>
            <a:r>
              <a:rPr lang="en-US" sz="1200" dirty="0">
                <a:solidFill>
                  <a:schemeClr val="bg1"/>
                </a:solidFill>
                <a:latin typeface="Walbaum Display" panose="02070303090703020303" pitchFamily="18" charset="0"/>
                <a:ea typeface="STIX Two Math" panose="02020603050405020304" pitchFamily="18" charset="0"/>
                <a:cs typeface="STIX Two Math" panose="02020603050405020304" pitchFamily="18" charset="0"/>
              </a:rPr>
              <a:t>2023</a:t>
            </a:r>
          </a:p>
        </p:txBody>
      </p:sp>
      <p:sp>
        <p:nvSpPr>
          <p:cNvPr id="14" name="Rectangle 13">
            <a:extLst>
              <a:ext uri="{FF2B5EF4-FFF2-40B4-BE49-F238E27FC236}">
                <a16:creationId xmlns:a16="http://schemas.microsoft.com/office/drawing/2014/main" id="{8601231D-1051-22C1-B9ED-BAF5DCDAC965}"/>
              </a:ext>
            </a:extLst>
          </p:cNvPr>
          <p:cNvSpPr/>
          <p:nvPr/>
        </p:nvSpPr>
        <p:spPr>
          <a:xfrm>
            <a:off x="4125686" y="3763487"/>
            <a:ext cx="3995057" cy="2582884"/>
          </a:xfrm>
          <a:prstGeom prst="rect">
            <a:avLst/>
          </a:prstGeom>
          <a:gradFill flip="none" rotWithShape="1">
            <a:gsLst>
              <a:gs pos="0">
                <a:schemeClr val="tx1">
                  <a:alpha val="0"/>
                </a:schemeClr>
              </a:gs>
              <a:gs pos="100000">
                <a:schemeClr val="tx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descr="An introduction to barcodes and barcoding technology | Labels &amp; Labeling">
            <a:extLst>
              <a:ext uri="{FF2B5EF4-FFF2-40B4-BE49-F238E27FC236}">
                <a16:creationId xmlns:a16="http://schemas.microsoft.com/office/drawing/2014/main" id="{63D3738E-1F72-C71B-C6F9-D56C0A679A8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787345" y="5783909"/>
            <a:ext cx="1243255" cy="694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8F1046F-9830-89E0-1C20-3F2A8BCBD99B}"/>
              </a:ext>
            </a:extLst>
          </p:cNvPr>
          <p:cNvSpPr txBox="1"/>
          <p:nvPr/>
        </p:nvSpPr>
        <p:spPr>
          <a:xfrm>
            <a:off x="3788228" y="4348065"/>
            <a:ext cx="4615544" cy="1200329"/>
          </a:xfrm>
          <a:prstGeom prst="rect">
            <a:avLst/>
          </a:prstGeom>
          <a:noFill/>
        </p:spPr>
        <p:txBody>
          <a:bodyPr wrap="square" rtlCol="0">
            <a:spAutoFit/>
          </a:bodyPr>
          <a:lstStyle/>
          <a:p>
            <a:pPr algn="ctr"/>
            <a:r>
              <a:rPr lang="en-US" sz="72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t>VOLCANOES</a:t>
            </a:r>
          </a:p>
        </p:txBody>
      </p:sp>
      <p:sp>
        <p:nvSpPr>
          <p:cNvPr id="26" name="Rectangle 25">
            <a:extLst>
              <a:ext uri="{FF2B5EF4-FFF2-40B4-BE49-F238E27FC236}">
                <a16:creationId xmlns:a16="http://schemas.microsoft.com/office/drawing/2014/main" id="{326F308B-5484-B2A9-B011-C0FA3F9EBB86}"/>
              </a:ext>
            </a:extLst>
          </p:cNvPr>
          <p:cNvSpPr/>
          <p:nvPr/>
        </p:nvSpPr>
        <p:spPr>
          <a:xfrm>
            <a:off x="0" y="0"/>
            <a:ext cx="12192000" cy="55037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4734EF6-F810-8925-C320-454FFDCAC56D}"/>
              </a:ext>
            </a:extLst>
          </p:cNvPr>
          <p:cNvSpPr/>
          <p:nvPr/>
        </p:nvSpPr>
        <p:spPr>
          <a:xfrm>
            <a:off x="0" y="6296918"/>
            <a:ext cx="12192000" cy="60931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4ECC4593-8DAC-68CF-060F-AE38728BD855}"/>
              </a:ext>
            </a:extLst>
          </p:cNvPr>
          <p:cNvGrpSpPr/>
          <p:nvPr/>
        </p:nvGrpSpPr>
        <p:grpSpPr>
          <a:xfrm>
            <a:off x="14111694" y="3018523"/>
            <a:ext cx="3164475" cy="996844"/>
            <a:chOff x="4639712" y="5156758"/>
            <a:chExt cx="3164475" cy="996844"/>
          </a:xfrm>
        </p:grpSpPr>
        <p:sp>
          <p:nvSpPr>
            <p:cNvPr id="33" name="TextBox 32">
              <a:extLst>
                <a:ext uri="{FF2B5EF4-FFF2-40B4-BE49-F238E27FC236}">
                  <a16:creationId xmlns:a16="http://schemas.microsoft.com/office/drawing/2014/main" id="{B97AC4F5-B6CE-9E8C-36B4-BD99AADDB168}"/>
                </a:ext>
              </a:extLst>
            </p:cNvPr>
            <p:cNvSpPr txBox="1"/>
            <p:nvPr/>
          </p:nvSpPr>
          <p:spPr>
            <a:xfrm>
              <a:off x="4995641" y="5156758"/>
              <a:ext cx="2478017" cy="691087"/>
            </a:xfrm>
            <a:prstGeom prst="rect">
              <a:avLst/>
            </a:prstGeom>
            <a:noFill/>
          </p:spPr>
          <p:txBody>
            <a:bodyPr wrap="square" rtlCol="0">
              <a:spAutoFit/>
            </a:bodyPr>
            <a:lstStyle/>
            <a:p>
              <a:pPr algn="ctr">
                <a:lnSpc>
                  <a:spcPct val="80000"/>
                </a:lnSpc>
              </a:pPr>
              <a:r>
                <a:rPr lang="en-US" sz="4800" dirty="0" err="1">
                  <a:solidFill>
                    <a:schemeClr val="bg1"/>
                  </a:solidFill>
                  <a:latin typeface="D-DIN" panose="020B0504030202030204" pitchFamily="34" charset="0"/>
                  <a:ea typeface="STIX Two Math" panose="02020603050405020304" pitchFamily="18" charset="0"/>
                  <a:cs typeface="Aharoni" panose="02010803020104030203" pitchFamily="2" charset="-79"/>
                </a:rPr>
                <a:t>Kīlauea</a:t>
              </a:r>
              <a:endParaRPr lang="en-US" sz="4800" dirty="0">
                <a:solidFill>
                  <a:schemeClr val="bg1"/>
                </a:solidFill>
                <a:latin typeface="D-DIN" panose="020B0504030202030204" pitchFamily="34" charset="0"/>
                <a:ea typeface="STIX Two Math" panose="02020603050405020304" pitchFamily="18" charset="0"/>
                <a:cs typeface="Aharoni" panose="02010803020104030203" pitchFamily="2" charset="-79"/>
              </a:endParaRPr>
            </a:p>
          </p:txBody>
        </p:sp>
        <p:sp>
          <p:nvSpPr>
            <p:cNvPr id="34" name="TextBox 33">
              <a:extLst>
                <a:ext uri="{FF2B5EF4-FFF2-40B4-BE49-F238E27FC236}">
                  <a16:creationId xmlns:a16="http://schemas.microsoft.com/office/drawing/2014/main" id="{D287D270-14A2-5E74-D677-F015349913B6}"/>
                </a:ext>
              </a:extLst>
            </p:cNvPr>
            <p:cNvSpPr txBox="1"/>
            <p:nvPr/>
          </p:nvSpPr>
          <p:spPr>
            <a:xfrm>
              <a:off x="4639712" y="5808379"/>
              <a:ext cx="3164475" cy="345223"/>
            </a:xfrm>
            <a:prstGeom prst="rect">
              <a:avLst/>
            </a:prstGeom>
            <a:noFill/>
          </p:spPr>
          <p:txBody>
            <a:bodyPr wrap="square" rtlCol="0">
              <a:spAutoFit/>
            </a:bodyPr>
            <a:lstStyle/>
            <a:p>
              <a:pPr algn="ctr">
                <a:lnSpc>
                  <a:spcPct val="80000"/>
                </a:lnSpc>
              </a:pPr>
              <a:r>
                <a:rPr lang="en-US" sz="2000" dirty="0">
                  <a:solidFill>
                    <a:schemeClr val="bg1"/>
                  </a:solidFill>
                  <a:latin typeface="Syne" pitchFamily="2" charset="77"/>
                  <a:ea typeface="STIX Two Math" panose="02020603050405020304" pitchFamily="18" charset="0"/>
                  <a:cs typeface="Aharoni" panose="02010803020104030203" pitchFamily="2" charset="-79"/>
                </a:rPr>
                <a:t>Elevation: 1,247 m</a:t>
              </a:r>
            </a:p>
          </p:txBody>
        </p:sp>
      </p:grpSp>
      <p:grpSp>
        <p:nvGrpSpPr>
          <p:cNvPr id="35" name="Group 34">
            <a:extLst>
              <a:ext uri="{FF2B5EF4-FFF2-40B4-BE49-F238E27FC236}">
                <a16:creationId xmlns:a16="http://schemas.microsoft.com/office/drawing/2014/main" id="{BC9C6D24-D3B1-7369-C33E-C5D472427F5C}"/>
              </a:ext>
            </a:extLst>
          </p:cNvPr>
          <p:cNvGrpSpPr/>
          <p:nvPr/>
        </p:nvGrpSpPr>
        <p:grpSpPr>
          <a:xfrm>
            <a:off x="15693931" y="4585891"/>
            <a:ext cx="3164475" cy="1274195"/>
            <a:chOff x="8132212" y="5156758"/>
            <a:chExt cx="3164475" cy="1274195"/>
          </a:xfrm>
        </p:grpSpPr>
        <p:sp>
          <p:nvSpPr>
            <p:cNvPr id="36" name="TextBox 35">
              <a:extLst>
                <a:ext uri="{FF2B5EF4-FFF2-40B4-BE49-F238E27FC236}">
                  <a16:creationId xmlns:a16="http://schemas.microsoft.com/office/drawing/2014/main" id="{5117F605-2A60-24AD-8007-F5542ADC84A5}"/>
                </a:ext>
              </a:extLst>
            </p:cNvPr>
            <p:cNvSpPr txBox="1"/>
            <p:nvPr/>
          </p:nvSpPr>
          <p:spPr>
            <a:xfrm>
              <a:off x="8424312" y="5156758"/>
              <a:ext cx="2478017" cy="1274195"/>
            </a:xfrm>
            <a:prstGeom prst="rect">
              <a:avLst/>
            </a:prstGeom>
            <a:noFill/>
          </p:spPr>
          <p:txBody>
            <a:bodyPr wrap="square" rtlCol="0">
              <a:spAutoFit/>
            </a:bodyPr>
            <a:lstStyle/>
            <a:p>
              <a:pPr algn="ctr">
                <a:lnSpc>
                  <a:spcPct val="80000"/>
                </a:lnSpc>
              </a:pPr>
              <a:r>
                <a:rPr lang="en-US" sz="4800" dirty="0">
                  <a:solidFill>
                    <a:schemeClr val="bg1"/>
                  </a:solidFill>
                  <a:latin typeface="D-DIN" panose="020B0504030202030204" pitchFamily="34" charset="0"/>
                  <a:ea typeface="STIX Two Math" panose="02020603050405020304" pitchFamily="18" charset="0"/>
                  <a:cs typeface="Aharoni" panose="02010803020104030203" pitchFamily="2" charset="-79"/>
                </a:rPr>
                <a:t>Krakatoa</a:t>
              </a:r>
            </a:p>
          </p:txBody>
        </p:sp>
        <p:sp>
          <p:nvSpPr>
            <p:cNvPr id="37" name="TextBox 36">
              <a:extLst>
                <a:ext uri="{FF2B5EF4-FFF2-40B4-BE49-F238E27FC236}">
                  <a16:creationId xmlns:a16="http://schemas.microsoft.com/office/drawing/2014/main" id="{76F84602-34A0-287C-7130-4B2D582AEA86}"/>
                </a:ext>
              </a:extLst>
            </p:cNvPr>
            <p:cNvSpPr txBox="1"/>
            <p:nvPr/>
          </p:nvSpPr>
          <p:spPr>
            <a:xfrm>
              <a:off x="8132212" y="5808379"/>
              <a:ext cx="3164475" cy="345223"/>
            </a:xfrm>
            <a:prstGeom prst="rect">
              <a:avLst/>
            </a:prstGeom>
            <a:noFill/>
          </p:spPr>
          <p:txBody>
            <a:bodyPr wrap="square" rtlCol="0">
              <a:spAutoFit/>
            </a:bodyPr>
            <a:lstStyle/>
            <a:p>
              <a:pPr algn="ctr">
                <a:lnSpc>
                  <a:spcPct val="80000"/>
                </a:lnSpc>
              </a:pPr>
              <a:r>
                <a:rPr lang="en-US" sz="2000" dirty="0">
                  <a:solidFill>
                    <a:schemeClr val="bg1"/>
                  </a:solidFill>
                  <a:latin typeface="Syne" pitchFamily="2" charset="77"/>
                  <a:ea typeface="STIX Two Math" panose="02020603050405020304" pitchFamily="18" charset="0"/>
                  <a:cs typeface="Aharoni" panose="02010803020104030203" pitchFamily="2" charset="-79"/>
                </a:rPr>
                <a:t>Elevation: 813 m</a:t>
              </a:r>
            </a:p>
          </p:txBody>
        </p:sp>
      </p:grpSp>
      <p:sp>
        <p:nvSpPr>
          <p:cNvPr id="3" name="TextBox 2">
            <a:extLst>
              <a:ext uri="{FF2B5EF4-FFF2-40B4-BE49-F238E27FC236}">
                <a16:creationId xmlns:a16="http://schemas.microsoft.com/office/drawing/2014/main" id="{5AEB06E0-57FA-32AD-C3CE-90B552D1E2CC}"/>
              </a:ext>
            </a:extLst>
          </p:cNvPr>
          <p:cNvSpPr txBox="1"/>
          <p:nvPr/>
        </p:nvSpPr>
        <p:spPr>
          <a:xfrm>
            <a:off x="-4396041" y="711266"/>
            <a:ext cx="4615544" cy="1421928"/>
          </a:xfrm>
          <a:prstGeom prst="rect">
            <a:avLst/>
          </a:prstGeom>
          <a:noFill/>
        </p:spPr>
        <p:txBody>
          <a:bodyPr wrap="square" rtlCol="0">
            <a:spAutoFit/>
          </a:bodyPr>
          <a:lstStyle/>
          <a:p>
            <a:pPr>
              <a:lnSpc>
                <a:spcPct val="80000"/>
              </a:lnSpc>
            </a:pPr>
            <a:r>
              <a:rPr lang="en-US" sz="36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t>MY FAVORITE</a:t>
            </a:r>
            <a:br>
              <a:rPr lang="en-US" sz="72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br>
            <a:r>
              <a:rPr lang="en-US" sz="72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t>VOLCANOES</a:t>
            </a:r>
          </a:p>
        </p:txBody>
      </p:sp>
      <p:grpSp>
        <p:nvGrpSpPr>
          <p:cNvPr id="4" name="Group 3">
            <a:extLst>
              <a:ext uri="{FF2B5EF4-FFF2-40B4-BE49-F238E27FC236}">
                <a16:creationId xmlns:a16="http://schemas.microsoft.com/office/drawing/2014/main" id="{C7201D6D-55BB-8D96-E4D7-6A94FEAFA279}"/>
              </a:ext>
            </a:extLst>
          </p:cNvPr>
          <p:cNvGrpSpPr/>
          <p:nvPr/>
        </p:nvGrpSpPr>
        <p:grpSpPr>
          <a:xfrm>
            <a:off x="12652867" y="1451155"/>
            <a:ext cx="3164475" cy="1274195"/>
            <a:chOff x="880512" y="5156758"/>
            <a:chExt cx="3164475" cy="1274195"/>
          </a:xfrm>
        </p:grpSpPr>
        <p:sp>
          <p:nvSpPr>
            <p:cNvPr id="6" name="TextBox 5">
              <a:extLst>
                <a:ext uri="{FF2B5EF4-FFF2-40B4-BE49-F238E27FC236}">
                  <a16:creationId xmlns:a16="http://schemas.microsoft.com/office/drawing/2014/main" id="{024E7ACC-5721-9E24-F61B-64777D1476A9}"/>
                </a:ext>
              </a:extLst>
            </p:cNvPr>
            <p:cNvSpPr txBox="1"/>
            <p:nvPr/>
          </p:nvSpPr>
          <p:spPr>
            <a:xfrm>
              <a:off x="880512" y="5156758"/>
              <a:ext cx="3164475" cy="1274195"/>
            </a:xfrm>
            <a:prstGeom prst="rect">
              <a:avLst/>
            </a:prstGeom>
            <a:noFill/>
          </p:spPr>
          <p:txBody>
            <a:bodyPr wrap="square" rtlCol="0">
              <a:spAutoFit/>
            </a:bodyPr>
            <a:lstStyle/>
            <a:p>
              <a:pPr algn="ctr">
                <a:lnSpc>
                  <a:spcPct val="80000"/>
                </a:lnSpc>
              </a:pPr>
              <a:r>
                <a:rPr lang="en-US" sz="4800" dirty="0">
                  <a:solidFill>
                    <a:schemeClr val="bg1"/>
                  </a:solidFill>
                  <a:latin typeface="D-DIN" panose="020B0504030202030204" pitchFamily="34" charset="0"/>
                  <a:ea typeface="STIX Two Math" panose="02020603050405020304" pitchFamily="18" charset="0"/>
                  <a:cs typeface="Aharoni" panose="02010803020104030203" pitchFamily="2" charset="-79"/>
                </a:rPr>
                <a:t>Mount Vesuvius</a:t>
              </a:r>
            </a:p>
          </p:txBody>
        </p:sp>
        <p:sp>
          <p:nvSpPr>
            <p:cNvPr id="7" name="TextBox 6">
              <a:extLst>
                <a:ext uri="{FF2B5EF4-FFF2-40B4-BE49-F238E27FC236}">
                  <a16:creationId xmlns:a16="http://schemas.microsoft.com/office/drawing/2014/main" id="{74EA79ED-6799-02DD-9477-5F30E8F634AF}"/>
                </a:ext>
              </a:extLst>
            </p:cNvPr>
            <p:cNvSpPr txBox="1"/>
            <p:nvPr/>
          </p:nvSpPr>
          <p:spPr>
            <a:xfrm>
              <a:off x="880512" y="5808379"/>
              <a:ext cx="3164475" cy="345223"/>
            </a:xfrm>
            <a:prstGeom prst="rect">
              <a:avLst/>
            </a:prstGeom>
            <a:noFill/>
          </p:spPr>
          <p:txBody>
            <a:bodyPr wrap="square" rtlCol="0">
              <a:spAutoFit/>
            </a:bodyPr>
            <a:lstStyle/>
            <a:p>
              <a:pPr algn="ctr">
                <a:lnSpc>
                  <a:spcPct val="80000"/>
                </a:lnSpc>
              </a:pPr>
              <a:r>
                <a:rPr lang="en-US" sz="2000" dirty="0">
                  <a:solidFill>
                    <a:schemeClr val="bg1"/>
                  </a:solidFill>
                  <a:latin typeface="Syne" pitchFamily="2" charset="77"/>
                  <a:ea typeface="STIX Two Math" panose="02020603050405020304" pitchFamily="18" charset="0"/>
                  <a:cs typeface="Aharoni" panose="02010803020104030203" pitchFamily="2" charset="-79"/>
                </a:rPr>
                <a:t>Elevation: 1,281 m</a:t>
              </a:r>
            </a:p>
          </p:txBody>
        </p:sp>
      </p:grpSp>
      <p:sp>
        <p:nvSpPr>
          <p:cNvPr id="39" name="Rectangle 38">
            <a:extLst>
              <a:ext uri="{FF2B5EF4-FFF2-40B4-BE49-F238E27FC236}">
                <a16:creationId xmlns:a16="http://schemas.microsoft.com/office/drawing/2014/main" id="{4B4B5F1E-AC63-409F-4409-154324462C15}"/>
              </a:ext>
            </a:extLst>
          </p:cNvPr>
          <p:cNvSpPr/>
          <p:nvPr/>
        </p:nvSpPr>
        <p:spPr>
          <a:xfrm>
            <a:off x="0" y="0"/>
            <a:ext cx="3912243" cy="684729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19DFAFE-4B32-DD9A-EA66-ACB99F50A612}"/>
              </a:ext>
            </a:extLst>
          </p:cNvPr>
          <p:cNvSpPr/>
          <p:nvPr/>
        </p:nvSpPr>
        <p:spPr>
          <a:xfrm>
            <a:off x="8298254" y="0"/>
            <a:ext cx="3912243" cy="684729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097A359-291A-A471-3571-0B56F8173B97}"/>
              </a:ext>
            </a:extLst>
          </p:cNvPr>
          <p:cNvSpPr/>
          <p:nvPr/>
        </p:nvSpPr>
        <p:spPr>
          <a:xfrm>
            <a:off x="3912243" y="273377"/>
            <a:ext cx="4363656" cy="276999"/>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E3F4833-FE81-816A-568B-B94ED4C210FF}"/>
              </a:ext>
            </a:extLst>
          </p:cNvPr>
          <p:cNvSpPr/>
          <p:nvPr/>
        </p:nvSpPr>
        <p:spPr>
          <a:xfrm>
            <a:off x="3912243" y="6296918"/>
            <a:ext cx="4363656" cy="276999"/>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6CF2F7-59F6-A79C-B133-A7414621EF3B}"/>
              </a:ext>
            </a:extLst>
          </p:cNvPr>
          <p:cNvSpPr/>
          <p:nvPr/>
        </p:nvSpPr>
        <p:spPr>
          <a:xfrm rot="5400000">
            <a:off x="861112" y="3285148"/>
            <a:ext cx="6300542" cy="276999"/>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A7B9961-D4BF-9E9D-DEB2-886FBF3A4012}"/>
              </a:ext>
            </a:extLst>
          </p:cNvPr>
          <p:cNvSpPr/>
          <p:nvPr/>
        </p:nvSpPr>
        <p:spPr>
          <a:xfrm rot="5400000">
            <a:off x="5015544" y="3285149"/>
            <a:ext cx="6300542" cy="276999"/>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060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7" name="Picture 16" descr="A lava flowing into a mountain&#10;&#10;Description automatically generated">
            <a:extLst>
              <a:ext uri="{FF2B5EF4-FFF2-40B4-BE49-F238E27FC236}">
                <a16:creationId xmlns:a16="http://schemas.microsoft.com/office/drawing/2014/main" id="{45B4F794-347D-C4C7-6828-8C48DA0457B6}"/>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450595" y="-538459"/>
            <a:ext cx="13056252" cy="7934918"/>
          </a:xfrm>
          <a:prstGeom prst="rect">
            <a:avLst/>
          </a:prstGeom>
        </p:spPr>
      </p:pic>
      <p:sp>
        <p:nvSpPr>
          <p:cNvPr id="5" name="TextBox 4">
            <a:extLst>
              <a:ext uri="{FF2B5EF4-FFF2-40B4-BE49-F238E27FC236}">
                <a16:creationId xmlns:a16="http://schemas.microsoft.com/office/drawing/2014/main" id="{C16268D2-F232-7CC4-6D25-015D70F68D16}"/>
              </a:ext>
            </a:extLst>
          </p:cNvPr>
          <p:cNvSpPr txBox="1"/>
          <p:nvPr/>
        </p:nvSpPr>
        <p:spPr>
          <a:xfrm>
            <a:off x="-1035884" y="-5569213"/>
            <a:ext cx="14263768" cy="2646878"/>
          </a:xfrm>
          <a:prstGeom prst="rect">
            <a:avLst/>
          </a:prstGeom>
          <a:noFill/>
        </p:spPr>
        <p:txBody>
          <a:bodyPr wrap="square" rtlCol="0">
            <a:spAutoFit/>
          </a:bodyPr>
          <a:lstStyle/>
          <a:p>
            <a:pPr algn="ctr"/>
            <a:r>
              <a:rPr lang="en-US" sz="16600" dirty="0">
                <a:solidFill>
                  <a:schemeClr val="bg1"/>
                </a:solidFill>
                <a:latin typeface="Walbaum Display" panose="02070303090703020303" pitchFamily="18" charset="0"/>
                <a:ea typeface="STIX Two Math" panose="02020603050405020304" pitchFamily="18" charset="0"/>
                <a:cs typeface="STIX Two Math" panose="02020603050405020304" pitchFamily="18" charset="0"/>
              </a:rPr>
              <a:t>SCIENCE</a:t>
            </a:r>
          </a:p>
        </p:txBody>
      </p:sp>
      <p:sp>
        <p:nvSpPr>
          <p:cNvPr id="9" name="TextBox 8">
            <a:extLst>
              <a:ext uri="{FF2B5EF4-FFF2-40B4-BE49-F238E27FC236}">
                <a16:creationId xmlns:a16="http://schemas.microsoft.com/office/drawing/2014/main" id="{4F04C3CB-7632-7E89-646C-A493D1035D87}"/>
              </a:ext>
            </a:extLst>
          </p:cNvPr>
          <p:cNvSpPr txBox="1"/>
          <p:nvPr/>
        </p:nvSpPr>
        <p:spPr>
          <a:xfrm>
            <a:off x="-1035884" y="-2978819"/>
            <a:ext cx="14263768" cy="1015663"/>
          </a:xfrm>
          <a:prstGeom prst="rect">
            <a:avLst/>
          </a:prstGeom>
          <a:noFill/>
        </p:spPr>
        <p:txBody>
          <a:bodyPr wrap="square" rtlCol="0">
            <a:spAutoFit/>
          </a:bodyPr>
          <a:lstStyle/>
          <a:p>
            <a:pPr algn="ctr"/>
            <a:r>
              <a:rPr lang="en-US" sz="6000" dirty="0">
                <a:solidFill>
                  <a:schemeClr val="bg1"/>
                </a:solidFill>
                <a:latin typeface="Walbaum Display" panose="02070303090703020303" pitchFamily="18" charset="0"/>
                <a:ea typeface="STIX Two Math" panose="02020603050405020304" pitchFamily="18" charset="0"/>
                <a:cs typeface="STIX Two Math" panose="02020603050405020304" pitchFamily="18" charset="0"/>
              </a:rPr>
              <a:t>PROJECT</a:t>
            </a:r>
          </a:p>
        </p:txBody>
      </p:sp>
      <p:sp>
        <p:nvSpPr>
          <p:cNvPr id="13" name="TextBox 12">
            <a:extLst>
              <a:ext uri="{FF2B5EF4-FFF2-40B4-BE49-F238E27FC236}">
                <a16:creationId xmlns:a16="http://schemas.microsoft.com/office/drawing/2014/main" id="{90FFCD08-CDC1-7A1A-C5B7-109F024A1DC6}"/>
              </a:ext>
            </a:extLst>
          </p:cNvPr>
          <p:cNvSpPr txBox="1"/>
          <p:nvPr/>
        </p:nvSpPr>
        <p:spPr>
          <a:xfrm>
            <a:off x="1469702" y="-5866155"/>
            <a:ext cx="3465022" cy="584775"/>
          </a:xfrm>
          <a:prstGeom prst="rect">
            <a:avLst/>
          </a:prstGeom>
          <a:noFill/>
        </p:spPr>
        <p:txBody>
          <a:bodyPr wrap="square" rtlCol="0">
            <a:spAutoFit/>
          </a:bodyPr>
          <a:lstStyle/>
          <a:p>
            <a:r>
              <a:rPr lang="en-US" sz="3200" dirty="0">
                <a:solidFill>
                  <a:schemeClr val="bg1"/>
                </a:solidFill>
                <a:latin typeface="Walbaum Display" panose="02070303090703020303" pitchFamily="18" charset="0"/>
                <a:ea typeface="STIX Two Math" panose="02020603050405020304" pitchFamily="18" charset="0"/>
                <a:cs typeface="STIX Two Math" panose="02020603050405020304" pitchFamily="18" charset="0"/>
              </a:rPr>
              <a:t>2023</a:t>
            </a:r>
          </a:p>
        </p:txBody>
      </p:sp>
      <p:sp>
        <p:nvSpPr>
          <p:cNvPr id="14" name="Rectangle 13">
            <a:extLst>
              <a:ext uri="{FF2B5EF4-FFF2-40B4-BE49-F238E27FC236}">
                <a16:creationId xmlns:a16="http://schemas.microsoft.com/office/drawing/2014/main" id="{8601231D-1051-22C1-B9ED-BAF5DCDAC965}"/>
              </a:ext>
            </a:extLst>
          </p:cNvPr>
          <p:cNvSpPr/>
          <p:nvPr/>
        </p:nvSpPr>
        <p:spPr>
          <a:xfrm>
            <a:off x="-359228" y="3759200"/>
            <a:ext cx="12964886" cy="3478567"/>
          </a:xfrm>
          <a:prstGeom prst="rect">
            <a:avLst/>
          </a:prstGeom>
          <a:gradFill flip="none" rotWithShape="1">
            <a:gsLst>
              <a:gs pos="0">
                <a:schemeClr val="tx1">
                  <a:alpha val="0"/>
                </a:schemeClr>
              </a:gs>
              <a:gs pos="63000">
                <a:schemeClr val="tx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descr="An introduction to barcodes and barcoding technology | Labels &amp; Labeling">
            <a:extLst>
              <a:ext uri="{FF2B5EF4-FFF2-40B4-BE49-F238E27FC236}">
                <a16:creationId xmlns:a16="http://schemas.microsoft.com/office/drawing/2014/main" id="{63D3738E-1F72-C71B-C6F9-D56C0A679A8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3504395" y="10929212"/>
            <a:ext cx="3285343" cy="183592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8F1046F-9830-89E0-1C20-3F2A8BCBD99B}"/>
              </a:ext>
            </a:extLst>
          </p:cNvPr>
          <p:cNvSpPr txBox="1"/>
          <p:nvPr/>
        </p:nvSpPr>
        <p:spPr>
          <a:xfrm>
            <a:off x="-1977081" y="7788143"/>
            <a:ext cx="16146162" cy="4508927"/>
          </a:xfrm>
          <a:prstGeom prst="rect">
            <a:avLst/>
          </a:prstGeom>
          <a:noFill/>
        </p:spPr>
        <p:txBody>
          <a:bodyPr wrap="square" rtlCol="0">
            <a:spAutoFit/>
          </a:bodyPr>
          <a:lstStyle/>
          <a:p>
            <a:pPr algn="ctr"/>
            <a:r>
              <a:rPr lang="en-US" sz="287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t>VOLCANOES</a:t>
            </a:r>
          </a:p>
        </p:txBody>
      </p:sp>
      <p:sp>
        <p:nvSpPr>
          <p:cNvPr id="26" name="Rectangle 25">
            <a:extLst>
              <a:ext uri="{FF2B5EF4-FFF2-40B4-BE49-F238E27FC236}">
                <a16:creationId xmlns:a16="http://schemas.microsoft.com/office/drawing/2014/main" id="{326F308B-5484-B2A9-B011-C0FA3F9EBB86}"/>
              </a:ext>
            </a:extLst>
          </p:cNvPr>
          <p:cNvSpPr/>
          <p:nvPr/>
        </p:nvSpPr>
        <p:spPr>
          <a:xfrm>
            <a:off x="-1035884" y="-1597782"/>
            <a:ext cx="14248966" cy="1465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4734EF6-F810-8925-C320-454FFDCAC56D}"/>
              </a:ext>
            </a:extLst>
          </p:cNvPr>
          <p:cNvSpPr/>
          <p:nvPr/>
        </p:nvSpPr>
        <p:spPr>
          <a:xfrm>
            <a:off x="-1035884" y="6987616"/>
            <a:ext cx="14248966" cy="144104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E97085C-D1D3-51D0-8F1B-ED132FBEFE52}"/>
              </a:ext>
            </a:extLst>
          </p:cNvPr>
          <p:cNvSpPr txBox="1"/>
          <p:nvPr/>
        </p:nvSpPr>
        <p:spPr>
          <a:xfrm>
            <a:off x="760483" y="711266"/>
            <a:ext cx="4615544" cy="1421928"/>
          </a:xfrm>
          <a:prstGeom prst="rect">
            <a:avLst/>
          </a:prstGeom>
          <a:noFill/>
        </p:spPr>
        <p:txBody>
          <a:bodyPr wrap="square" rtlCol="0">
            <a:spAutoFit/>
          </a:bodyPr>
          <a:lstStyle/>
          <a:p>
            <a:pPr>
              <a:lnSpc>
                <a:spcPct val="80000"/>
              </a:lnSpc>
            </a:pPr>
            <a:r>
              <a:rPr lang="en-US" sz="36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t>MY FAVORITE</a:t>
            </a:r>
            <a:br>
              <a:rPr lang="en-US" sz="72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br>
            <a:r>
              <a:rPr lang="en-US" sz="72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t>VOLCANOES</a:t>
            </a:r>
          </a:p>
        </p:txBody>
      </p:sp>
      <p:grpSp>
        <p:nvGrpSpPr>
          <p:cNvPr id="31" name="Group 30">
            <a:extLst>
              <a:ext uri="{FF2B5EF4-FFF2-40B4-BE49-F238E27FC236}">
                <a16:creationId xmlns:a16="http://schemas.microsoft.com/office/drawing/2014/main" id="{B620A424-EB6B-AFEB-BEEF-CAA655CBD723}"/>
              </a:ext>
            </a:extLst>
          </p:cNvPr>
          <p:cNvGrpSpPr/>
          <p:nvPr/>
        </p:nvGrpSpPr>
        <p:grpSpPr>
          <a:xfrm>
            <a:off x="7270045" y="1451155"/>
            <a:ext cx="4214620" cy="996844"/>
            <a:chOff x="355440" y="5156758"/>
            <a:chExt cx="4214620" cy="996844"/>
          </a:xfrm>
        </p:grpSpPr>
        <p:sp>
          <p:nvSpPr>
            <p:cNvPr id="19" name="TextBox 18">
              <a:extLst>
                <a:ext uri="{FF2B5EF4-FFF2-40B4-BE49-F238E27FC236}">
                  <a16:creationId xmlns:a16="http://schemas.microsoft.com/office/drawing/2014/main" id="{416DA612-B6FC-E59E-F9D1-8ACE246DEC7B}"/>
                </a:ext>
              </a:extLst>
            </p:cNvPr>
            <p:cNvSpPr txBox="1"/>
            <p:nvPr/>
          </p:nvSpPr>
          <p:spPr>
            <a:xfrm>
              <a:off x="355440" y="5156758"/>
              <a:ext cx="4214620" cy="683264"/>
            </a:xfrm>
            <a:prstGeom prst="rect">
              <a:avLst/>
            </a:prstGeom>
            <a:noFill/>
          </p:spPr>
          <p:txBody>
            <a:bodyPr wrap="square" rtlCol="0">
              <a:spAutoFit/>
            </a:bodyPr>
            <a:lstStyle/>
            <a:p>
              <a:pPr algn="ctr">
                <a:lnSpc>
                  <a:spcPct val="80000"/>
                </a:lnSpc>
              </a:pPr>
              <a:r>
                <a:rPr lang="en-US" sz="48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t>Mount Vesuvius</a:t>
              </a:r>
            </a:p>
          </p:txBody>
        </p:sp>
        <p:sp>
          <p:nvSpPr>
            <p:cNvPr id="28" name="TextBox 27">
              <a:extLst>
                <a:ext uri="{FF2B5EF4-FFF2-40B4-BE49-F238E27FC236}">
                  <a16:creationId xmlns:a16="http://schemas.microsoft.com/office/drawing/2014/main" id="{44ABBD84-A4BE-6E86-E9F8-6E8447898B53}"/>
                </a:ext>
              </a:extLst>
            </p:cNvPr>
            <p:cNvSpPr txBox="1"/>
            <p:nvPr/>
          </p:nvSpPr>
          <p:spPr>
            <a:xfrm>
              <a:off x="880512" y="5808379"/>
              <a:ext cx="3164475" cy="345223"/>
            </a:xfrm>
            <a:prstGeom prst="rect">
              <a:avLst/>
            </a:prstGeom>
            <a:noFill/>
          </p:spPr>
          <p:txBody>
            <a:bodyPr wrap="square" rtlCol="0">
              <a:spAutoFit/>
            </a:bodyPr>
            <a:lstStyle/>
            <a:p>
              <a:pPr algn="ctr">
                <a:lnSpc>
                  <a:spcPct val="80000"/>
                </a:lnSpc>
              </a:pPr>
              <a:r>
                <a:rPr lang="en-US" sz="2000" dirty="0">
                  <a:solidFill>
                    <a:schemeClr val="bg1"/>
                  </a:solidFill>
                  <a:latin typeface="Syne" pitchFamily="2" charset="77"/>
                  <a:ea typeface="STIX Two Math" panose="02020603050405020304" pitchFamily="18" charset="0"/>
                  <a:cs typeface="Aharoni" panose="02010803020104030203" pitchFamily="2" charset="-79"/>
                </a:rPr>
                <a:t>Elevation: 1,281 m</a:t>
              </a:r>
            </a:p>
          </p:txBody>
        </p:sp>
      </p:grpSp>
      <p:grpSp>
        <p:nvGrpSpPr>
          <p:cNvPr id="32" name="Group 31">
            <a:extLst>
              <a:ext uri="{FF2B5EF4-FFF2-40B4-BE49-F238E27FC236}">
                <a16:creationId xmlns:a16="http://schemas.microsoft.com/office/drawing/2014/main" id="{27246DCE-4B7B-31A9-D80F-787048B74417}"/>
              </a:ext>
            </a:extLst>
          </p:cNvPr>
          <p:cNvGrpSpPr/>
          <p:nvPr/>
        </p:nvGrpSpPr>
        <p:grpSpPr>
          <a:xfrm>
            <a:off x="7795117" y="3018523"/>
            <a:ext cx="3164475" cy="996844"/>
            <a:chOff x="4639712" y="5156758"/>
            <a:chExt cx="3164475" cy="996844"/>
          </a:xfrm>
        </p:grpSpPr>
        <p:sp>
          <p:nvSpPr>
            <p:cNvPr id="20" name="TextBox 19">
              <a:extLst>
                <a:ext uri="{FF2B5EF4-FFF2-40B4-BE49-F238E27FC236}">
                  <a16:creationId xmlns:a16="http://schemas.microsoft.com/office/drawing/2014/main" id="{0AF138A8-3727-DF37-715E-A13AE9F464CE}"/>
                </a:ext>
              </a:extLst>
            </p:cNvPr>
            <p:cNvSpPr txBox="1"/>
            <p:nvPr/>
          </p:nvSpPr>
          <p:spPr>
            <a:xfrm>
              <a:off x="4995641" y="5156758"/>
              <a:ext cx="2478017" cy="691087"/>
            </a:xfrm>
            <a:prstGeom prst="rect">
              <a:avLst/>
            </a:prstGeom>
            <a:noFill/>
          </p:spPr>
          <p:txBody>
            <a:bodyPr wrap="square" rtlCol="0">
              <a:spAutoFit/>
            </a:bodyPr>
            <a:lstStyle/>
            <a:p>
              <a:pPr algn="ctr">
                <a:lnSpc>
                  <a:spcPct val="80000"/>
                </a:lnSpc>
              </a:pPr>
              <a:r>
                <a:rPr lang="en-US" sz="4800" b="1">
                  <a:solidFill>
                    <a:schemeClr val="bg1"/>
                  </a:solidFill>
                  <a:latin typeface="D-DIN Condensed" panose="020B0506030202030204" pitchFamily="34" charset="0"/>
                  <a:cs typeface="Aharoni" panose="02010803020104030203" pitchFamily="2" charset="-79"/>
                </a:rPr>
                <a:t>Kīlauea</a:t>
              </a:r>
              <a:endParaRPr lang="en-US" sz="4800" b="1" dirty="0">
                <a:solidFill>
                  <a:schemeClr val="bg1"/>
                </a:solidFill>
                <a:latin typeface="D-DIN Condensed" panose="020B0506030202030204" pitchFamily="34" charset="0"/>
                <a:cs typeface="Aharoni" panose="02010803020104030203" pitchFamily="2" charset="-79"/>
              </a:endParaRPr>
            </a:p>
          </p:txBody>
        </p:sp>
        <p:sp>
          <p:nvSpPr>
            <p:cNvPr id="29" name="TextBox 28">
              <a:extLst>
                <a:ext uri="{FF2B5EF4-FFF2-40B4-BE49-F238E27FC236}">
                  <a16:creationId xmlns:a16="http://schemas.microsoft.com/office/drawing/2014/main" id="{767925DC-598D-5CC5-8B36-8BDD56D96501}"/>
                </a:ext>
              </a:extLst>
            </p:cNvPr>
            <p:cNvSpPr txBox="1"/>
            <p:nvPr/>
          </p:nvSpPr>
          <p:spPr>
            <a:xfrm>
              <a:off x="4639712" y="5808379"/>
              <a:ext cx="3164475" cy="345223"/>
            </a:xfrm>
            <a:prstGeom prst="rect">
              <a:avLst/>
            </a:prstGeom>
            <a:noFill/>
          </p:spPr>
          <p:txBody>
            <a:bodyPr wrap="square" rtlCol="0">
              <a:spAutoFit/>
            </a:bodyPr>
            <a:lstStyle/>
            <a:p>
              <a:pPr algn="ctr">
                <a:lnSpc>
                  <a:spcPct val="80000"/>
                </a:lnSpc>
              </a:pPr>
              <a:r>
                <a:rPr lang="en-US" sz="2000" dirty="0">
                  <a:solidFill>
                    <a:schemeClr val="bg1"/>
                  </a:solidFill>
                  <a:latin typeface="Syne" pitchFamily="2" charset="77"/>
                  <a:ea typeface="STIX Two Math" panose="02020603050405020304" pitchFamily="18" charset="0"/>
                  <a:cs typeface="Aharoni" panose="02010803020104030203" pitchFamily="2" charset="-79"/>
                </a:rPr>
                <a:t>Elevation: 1,247 m</a:t>
              </a:r>
            </a:p>
          </p:txBody>
        </p:sp>
      </p:grpSp>
      <p:grpSp>
        <p:nvGrpSpPr>
          <p:cNvPr id="33" name="Group 32">
            <a:extLst>
              <a:ext uri="{FF2B5EF4-FFF2-40B4-BE49-F238E27FC236}">
                <a16:creationId xmlns:a16="http://schemas.microsoft.com/office/drawing/2014/main" id="{C8B3063A-8671-C885-348B-3C9AAB63E397}"/>
              </a:ext>
            </a:extLst>
          </p:cNvPr>
          <p:cNvGrpSpPr/>
          <p:nvPr/>
        </p:nvGrpSpPr>
        <p:grpSpPr>
          <a:xfrm>
            <a:off x="7795117" y="4585891"/>
            <a:ext cx="3164475" cy="996844"/>
            <a:chOff x="8132212" y="5156758"/>
            <a:chExt cx="3164475" cy="996844"/>
          </a:xfrm>
        </p:grpSpPr>
        <p:sp>
          <p:nvSpPr>
            <p:cNvPr id="21" name="TextBox 20">
              <a:extLst>
                <a:ext uri="{FF2B5EF4-FFF2-40B4-BE49-F238E27FC236}">
                  <a16:creationId xmlns:a16="http://schemas.microsoft.com/office/drawing/2014/main" id="{0CB006C8-530C-49CE-0E2E-C1CC28194E70}"/>
                </a:ext>
              </a:extLst>
            </p:cNvPr>
            <p:cNvSpPr txBox="1"/>
            <p:nvPr/>
          </p:nvSpPr>
          <p:spPr>
            <a:xfrm>
              <a:off x="8424312" y="5156758"/>
              <a:ext cx="2478017" cy="683264"/>
            </a:xfrm>
            <a:prstGeom prst="rect">
              <a:avLst/>
            </a:prstGeom>
            <a:noFill/>
          </p:spPr>
          <p:txBody>
            <a:bodyPr wrap="square" rtlCol="0">
              <a:spAutoFit/>
            </a:bodyPr>
            <a:lstStyle/>
            <a:p>
              <a:pPr algn="ctr">
                <a:lnSpc>
                  <a:spcPct val="80000"/>
                </a:lnSpc>
              </a:pPr>
              <a:r>
                <a:rPr lang="en-US" sz="4800" b="1">
                  <a:solidFill>
                    <a:schemeClr val="bg1"/>
                  </a:solidFill>
                  <a:latin typeface="D-DIN Condensed" panose="020B0506030202030204" pitchFamily="34" charset="0"/>
                  <a:cs typeface="Aharoni" panose="02010803020104030203" pitchFamily="2" charset="-79"/>
                </a:rPr>
                <a:t>Krakatoa</a:t>
              </a:r>
              <a:endParaRPr lang="en-US" sz="4800" b="1" dirty="0">
                <a:solidFill>
                  <a:schemeClr val="bg1"/>
                </a:solidFill>
                <a:latin typeface="D-DIN Condensed" panose="020B0506030202030204" pitchFamily="34" charset="0"/>
                <a:cs typeface="Aharoni" panose="02010803020104030203" pitchFamily="2" charset="-79"/>
              </a:endParaRPr>
            </a:p>
          </p:txBody>
        </p:sp>
        <p:sp>
          <p:nvSpPr>
            <p:cNvPr id="30" name="TextBox 29">
              <a:extLst>
                <a:ext uri="{FF2B5EF4-FFF2-40B4-BE49-F238E27FC236}">
                  <a16:creationId xmlns:a16="http://schemas.microsoft.com/office/drawing/2014/main" id="{2344C36D-7860-68F6-B027-FD9CD7B53F6B}"/>
                </a:ext>
              </a:extLst>
            </p:cNvPr>
            <p:cNvSpPr txBox="1"/>
            <p:nvPr/>
          </p:nvSpPr>
          <p:spPr>
            <a:xfrm>
              <a:off x="8132212" y="5808379"/>
              <a:ext cx="3164475" cy="345223"/>
            </a:xfrm>
            <a:prstGeom prst="rect">
              <a:avLst/>
            </a:prstGeom>
            <a:noFill/>
          </p:spPr>
          <p:txBody>
            <a:bodyPr wrap="square" rtlCol="0">
              <a:spAutoFit/>
            </a:bodyPr>
            <a:lstStyle/>
            <a:p>
              <a:pPr algn="ctr">
                <a:lnSpc>
                  <a:spcPct val="80000"/>
                </a:lnSpc>
              </a:pPr>
              <a:r>
                <a:rPr lang="en-US" sz="2000" dirty="0">
                  <a:solidFill>
                    <a:schemeClr val="bg1"/>
                  </a:solidFill>
                  <a:latin typeface="Syne" pitchFamily="2" charset="77"/>
                  <a:ea typeface="STIX Two Math" panose="02020603050405020304" pitchFamily="18" charset="0"/>
                  <a:cs typeface="Aharoni" panose="02010803020104030203" pitchFamily="2" charset="-79"/>
                </a:rPr>
                <a:t>Elevation: 813 m</a:t>
              </a:r>
            </a:p>
          </p:txBody>
        </p:sp>
      </p:grpSp>
      <p:sp>
        <p:nvSpPr>
          <p:cNvPr id="34" name="Rectangle 33">
            <a:extLst>
              <a:ext uri="{FF2B5EF4-FFF2-40B4-BE49-F238E27FC236}">
                <a16:creationId xmlns:a16="http://schemas.microsoft.com/office/drawing/2014/main" id="{DD2F4626-8EE4-02CC-316B-2AF079F9969E}"/>
              </a:ext>
            </a:extLst>
          </p:cNvPr>
          <p:cNvSpPr/>
          <p:nvPr/>
        </p:nvSpPr>
        <p:spPr>
          <a:xfrm>
            <a:off x="-4948128" y="0"/>
            <a:ext cx="3912243" cy="684729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7F7F6CF-7B68-973C-E6A5-2164BD67C702}"/>
              </a:ext>
            </a:extLst>
          </p:cNvPr>
          <p:cNvSpPr/>
          <p:nvPr/>
        </p:nvSpPr>
        <p:spPr>
          <a:xfrm>
            <a:off x="13190946" y="0"/>
            <a:ext cx="3912243" cy="684729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097A359-291A-A471-3571-0B56F8173B97}"/>
              </a:ext>
            </a:extLst>
          </p:cNvPr>
          <p:cNvSpPr/>
          <p:nvPr/>
        </p:nvSpPr>
        <p:spPr>
          <a:xfrm>
            <a:off x="-909324" y="-1022969"/>
            <a:ext cx="14031038" cy="890671"/>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E3F4833-FE81-816A-568B-B94ED4C210FF}"/>
              </a:ext>
            </a:extLst>
          </p:cNvPr>
          <p:cNvSpPr/>
          <p:nvPr/>
        </p:nvSpPr>
        <p:spPr>
          <a:xfrm>
            <a:off x="-909324" y="6987616"/>
            <a:ext cx="14031038" cy="890671"/>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6CF2F7-59F6-A79C-B133-A7414621EF3B}"/>
              </a:ext>
            </a:extLst>
          </p:cNvPr>
          <p:cNvSpPr/>
          <p:nvPr/>
        </p:nvSpPr>
        <p:spPr>
          <a:xfrm rot="5400000">
            <a:off x="-5041177" y="2982322"/>
            <a:ext cx="8901258" cy="890671"/>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A7B9961-D4BF-9E9D-DEB2-886FBF3A4012}"/>
              </a:ext>
            </a:extLst>
          </p:cNvPr>
          <p:cNvSpPr/>
          <p:nvPr/>
        </p:nvSpPr>
        <p:spPr>
          <a:xfrm rot="5400000">
            <a:off x="8317118" y="2982325"/>
            <a:ext cx="8901257" cy="890671"/>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CE898DD1-0BBE-4CAF-4642-C56FD96B4BF9}"/>
              </a:ext>
            </a:extLst>
          </p:cNvPr>
          <p:cNvSpPr/>
          <p:nvPr/>
        </p:nvSpPr>
        <p:spPr>
          <a:xfrm>
            <a:off x="4849272" y="0"/>
            <a:ext cx="1239472" cy="6858000"/>
          </a:xfrm>
          <a:prstGeom prst="rect">
            <a:avLst/>
          </a:prstGeom>
          <a:gradFill flip="none" rotWithShape="1">
            <a:gsLst>
              <a:gs pos="0">
                <a:schemeClr val="tx1">
                  <a:alpha val="0"/>
                </a:schemeClr>
              </a:gs>
              <a:gs pos="100000">
                <a:schemeClr val="tx1">
                  <a:alpha val="26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0144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386" name="Picture 2" descr="Vesuvius National Park: book tickets to visit volcano Mount Vesuvius">
            <a:extLst>
              <a:ext uri="{FF2B5EF4-FFF2-40B4-BE49-F238E27FC236}">
                <a16:creationId xmlns:a16="http://schemas.microsoft.com/office/drawing/2014/main" id="{232DF3BA-9393-ED75-7399-BC1827DD9A2B}"/>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a:stretch/>
        </p:blipFill>
        <p:spPr bwMode="auto">
          <a:xfrm>
            <a:off x="420914" y="385763"/>
            <a:ext cx="11350172" cy="608647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9A0042F-6318-15FB-F8F3-499530F562D8}"/>
              </a:ext>
            </a:extLst>
          </p:cNvPr>
          <p:cNvSpPr/>
          <p:nvPr/>
        </p:nvSpPr>
        <p:spPr>
          <a:xfrm>
            <a:off x="7359087" y="1557044"/>
            <a:ext cx="3740486" cy="5300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descr="An introduction to barcodes and barcoding technology | Labels &amp; Labeling">
            <a:extLst>
              <a:ext uri="{FF2B5EF4-FFF2-40B4-BE49-F238E27FC236}">
                <a16:creationId xmlns:a16="http://schemas.microsoft.com/office/drawing/2014/main" id="{63D3738E-1F72-C71B-C6F9-D56C0A679A8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787345" y="13793124"/>
            <a:ext cx="1243255" cy="694760"/>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B620A424-EB6B-AFEB-BEEF-CAA655CBD723}"/>
              </a:ext>
            </a:extLst>
          </p:cNvPr>
          <p:cNvGrpSpPr/>
          <p:nvPr/>
        </p:nvGrpSpPr>
        <p:grpSpPr>
          <a:xfrm>
            <a:off x="778659" y="3857329"/>
            <a:ext cx="3236641" cy="2222147"/>
            <a:chOff x="880512" y="3931455"/>
            <a:chExt cx="3236641" cy="2222147"/>
          </a:xfrm>
        </p:grpSpPr>
        <p:sp>
          <p:nvSpPr>
            <p:cNvPr id="19" name="TextBox 18">
              <a:extLst>
                <a:ext uri="{FF2B5EF4-FFF2-40B4-BE49-F238E27FC236}">
                  <a16:creationId xmlns:a16="http://schemas.microsoft.com/office/drawing/2014/main" id="{416DA612-B6FC-E59E-F9D1-8ACE246DEC7B}"/>
                </a:ext>
              </a:extLst>
            </p:cNvPr>
            <p:cNvSpPr txBox="1"/>
            <p:nvPr/>
          </p:nvSpPr>
          <p:spPr>
            <a:xfrm>
              <a:off x="880512" y="3931455"/>
              <a:ext cx="3236641" cy="1865126"/>
            </a:xfrm>
            <a:prstGeom prst="rect">
              <a:avLst/>
            </a:prstGeom>
            <a:noFill/>
          </p:spPr>
          <p:txBody>
            <a:bodyPr wrap="square" rtlCol="0">
              <a:spAutoFit/>
            </a:bodyPr>
            <a:lstStyle/>
            <a:p>
              <a:pPr algn="ctr">
                <a:lnSpc>
                  <a:spcPct val="80000"/>
                </a:lnSpc>
              </a:pPr>
              <a:r>
                <a:rPr lang="en-US" sz="72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t>MOUNT VESUVIUS</a:t>
              </a:r>
            </a:p>
          </p:txBody>
        </p:sp>
        <p:sp>
          <p:nvSpPr>
            <p:cNvPr id="28" name="TextBox 27">
              <a:extLst>
                <a:ext uri="{FF2B5EF4-FFF2-40B4-BE49-F238E27FC236}">
                  <a16:creationId xmlns:a16="http://schemas.microsoft.com/office/drawing/2014/main" id="{44ABBD84-A4BE-6E86-E9F8-6E8447898B53}"/>
                </a:ext>
              </a:extLst>
            </p:cNvPr>
            <p:cNvSpPr txBox="1"/>
            <p:nvPr/>
          </p:nvSpPr>
          <p:spPr>
            <a:xfrm>
              <a:off x="880512" y="5808379"/>
              <a:ext cx="3164475" cy="345223"/>
            </a:xfrm>
            <a:prstGeom prst="rect">
              <a:avLst/>
            </a:prstGeom>
            <a:noFill/>
          </p:spPr>
          <p:txBody>
            <a:bodyPr wrap="square" rtlCol="0">
              <a:spAutoFit/>
            </a:bodyPr>
            <a:lstStyle/>
            <a:p>
              <a:pPr algn="ctr">
                <a:lnSpc>
                  <a:spcPct val="80000"/>
                </a:lnSpc>
              </a:pPr>
              <a:r>
                <a:rPr lang="en-US" sz="2000" dirty="0">
                  <a:solidFill>
                    <a:schemeClr val="bg1"/>
                  </a:solidFill>
                  <a:latin typeface="Syne" pitchFamily="2" charset="77"/>
                  <a:ea typeface="STIX Two Math" panose="02020603050405020304" pitchFamily="18" charset="0"/>
                  <a:cs typeface="Aharoni" panose="02010803020104030203" pitchFamily="2" charset="-79"/>
                </a:rPr>
                <a:t>Elevation: 1,281 m</a:t>
              </a:r>
            </a:p>
          </p:txBody>
        </p:sp>
      </p:grpSp>
      <p:sp>
        <p:nvSpPr>
          <p:cNvPr id="4" name="TextBox 3">
            <a:extLst>
              <a:ext uri="{FF2B5EF4-FFF2-40B4-BE49-F238E27FC236}">
                <a16:creationId xmlns:a16="http://schemas.microsoft.com/office/drawing/2014/main" id="{7BBA91AD-AF5D-545F-CE45-9FD6B0047409}"/>
              </a:ext>
            </a:extLst>
          </p:cNvPr>
          <p:cNvSpPr txBox="1"/>
          <p:nvPr/>
        </p:nvSpPr>
        <p:spPr>
          <a:xfrm>
            <a:off x="7724433" y="2335566"/>
            <a:ext cx="3009795" cy="3743910"/>
          </a:xfrm>
          <a:prstGeom prst="rect">
            <a:avLst/>
          </a:prstGeom>
          <a:noFill/>
        </p:spPr>
        <p:txBody>
          <a:bodyPr wrap="square">
            <a:spAutoFit/>
          </a:bodyPr>
          <a:lstStyle/>
          <a:p>
            <a:pPr>
              <a:lnSpc>
                <a:spcPct val="150000"/>
              </a:lnSpc>
            </a:pPr>
            <a:r>
              <a:rPr lang="en-AU" sz="1600" dirty="0">
                <a:latin typeface="Roboto" panose="02000000000000000000" pitchFamily="2" charset="0"/>
                <a:ea typeface="Roboto" panose="02000000000000000000" pitchFamily="2" charset="0"/>
                <a:cs typeface="Roboto" panose="02000000000000000000" pitchFamily="2" charset="0"/>
              </a:rPr>
              <a:t>Mount Vesuvius is a stratovolcano located on the Gulf of Naples in southern Italy. It is one of the most infamous and active volcanoes in the world. With a height of about 1,281 meters (4,203 feet), it overlooks the ancient Roman city of Pompeii and the modern-day city of Naples.</a:t>
            </a:r>
            <a:endParaRPr lang="en-US" sz="1600" dirty="0">
              <a:latin typeface="Roboto" panose="02000000000000000000" pitchFamily="2" charset="0"/>
              <a:ea typeface="Roboto" panose="02000000000000000000" pitchFamily="2" charset="0"/>
              <a:cs typeface="Roboto" panose="02000000000000000000" pitchFamily="2" charset="0"/>
            </a:endParaRPr>
          </a:p>
        </p:txBody>
      </p:sp>
      <p:cxnSp>
        <p:nvCxnSpPr>
          <p:cNvPr id="8" name="Straight Connector 7">
            <a:extLst>
              <a:ext uri="{FF2B5EF4-FFF2-40B4-BE49-F238E27FC236}">
                <a16:creationId xmlns:a16="http://schemas.microsoft.com/office/drawing/2014/main" id="{EC098322-E859-F300-BEB4-B1A9517467F1}"/>
              </a:ext>
            </a:extLst>
          </p:cNvPr>
          <p:cNvCxnSpPr>
            <a:cxnSpLocks/>
          </p:cNvCxnSpPr>
          <p:nvPr/>
        </p:nvCxnSpPr>
        <p:spPr>
          <a:xfrm flipH="1">
            <a:off x="4310743" y="3149600"/>
            <a:ext cx="3847420" cy="0"/>
          </a:xfrm>
          <a:prstGeom prst="line">
            <a:avLst/>
          </a:prstGeom>
          <a:ln w="28575">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51906F1A-DC79-C5BE-26CF-3B1E2DA40422}"/>
              </a:ext>
            </a:extLst>
          </p:cNvPr>
          <p:cNvSpPr/>
          <p:nvPr/>
        </p:nvSpPr>
        <p:spPr>
          <a:xfrm flipV="1">
            <a:off x="4194629" y="3033486"/>
            <a:ext cx="232228" cy="2322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09BEC1-77E9-D49E-2301-2A002155ED90}"/>
              </a:ext>
            </a:extLst>
          </p:cNvPr>
          <p:cNvSpPr/>
          <p:nvPr/>
        </p:nvSpPr>
        <p:spPr>
          <a:xfrm>
            <a:off x="7359087" y="1557044"/>
            <a:ext cx="3740486" cy="170156"/>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AA95401-FFC6-199E-E8F3-E3542AC596FE}"/>
              </a:ext>
            </a:extLst>
          </p:cNvPr>
          <p:cNvSpPr/>
          <p:nvPr/>
        </p:nvSpPr>
        <p:spPr>
          <a:xfrm>
            <a:off x="4849272" y="0"/>
            <a:ext cx="1239472" cy="6858000"/>
          </a:xfrm>
          <a:prstGeom prst="rect">
            <a:avLst/>
          </a:prstGeom>
          <a:gradFill flip="none" rotWithShape="1">
            <a:gsLst>
              <a:gs pos="0">
                <a:schemeClr val="tx1">
                  <a:alpha val="0"/>
                </a:schemeClr>
              </a:gs>
              <a:gs pos="100000">
                <a:schemeClr val="tx1">
                  <a:alpha val="26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1272212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434" name="Picture 2" descr="Kīlauea - Wikipedia">
            <a:extLst>
              <a:ext uri="{FF2B5EF4-FFF2-40B4-BE49-F238E27FC236}">
                <a16:creationId xmlns:a16="http://schemas.microsoft.com/office/drawing/2014/main" id="{0309DFA2-2542-7E5A-63F7-47ADE92A9A46}"/>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a:stretch/>
        </p:blipFill>
        <p:spPr bwMode="auto">
          <a:xfrm>
            <a:off x="406402" y="394183"/>
            <a:ext cx="11364684" cy="640079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C7B8677E-DD24-8F62-F44F-67571339D053}"/>
              </a:ext>
            </a:extLst>
          </p:cNvPr>
          <p:cNvSpPr/>
          <p:nvPr/>
        </p:nvSpPr>
        <p:spPr>
          <a:xfrm>
            <a:off x="406402" y="4186238"/>
            <a:ext cx="11364684" cy="2671761"/>
          </a:xfrm>
          <a:prstGeom prst="rect">
            <a:avLst/>
          </a:pr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descr="An introduction to barcodes and barcoding technology | Labels &amp; Labeling">
            <a:extLst>
              <a:ext uri="{FF2B5EF4-FFF2-40B4-BE49-F238E27FC236}">
                <a16:creationId xmlns:a16="http://schemas.microsoft.com/office/drawing/2014/main" id="{63D3738E-1F72-C71B-C6F9-D56C0A679A8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787345" y="13793124"/>
            <a:ext cx="1243255" cy="69476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BBA91AD-AF5D-545F-CE45-9FD6B0047409}"/>
              </a:ext>
            </a:extLst>
          </p:cNvPr>
          <p:cNvSpPr txBox="1"/>
          <p:nvPr/>
        </p:nvSpPr>
        <p:spPr>
          <a:xfrm>
            <a:off x="915182" y="4617669"/>
            <a:ext cx="4799817" cy="1527919"/>
          </a:xfrm>
          <a:prstGeom prst="rect">
            <a:avLst/>
          </a:prstGeom>
          <a:noFill/>
        </p:spPr>
        <p:txBody>
          <a:bodyPr wrap="square">
            <a:spAutoFit/>
          </a:bodyPr>
          <a:lstStyle>
            <a:defPPr>
              <a:defRPr lang="en-US"/>
            </a:defPPr>
            <a:lvl1pPr>
              <a:lnSpc>
                <a:spcPct val="150000"/>
              </a:lnSpc>
              <a:defRPr sz="1600">
                <a:latin typeface="Roboto" panose="02000000000000000000" pitchFamily="2" charset="0"/>
                <a:ea typeface="Roboto" panose="02000000000000000000" pitchFamily="2" charset="0"/>
                <a:cs typeface="Roboto" panose="02000000000000000000" pitchFamily="2" charset="0"/>
              </a:defRPr>
            </a:lvl1pPr>
          </a:lstStyle>
          <a:p>
            <a:r>
              <a:rPr lang="en-AU" dirty="0"/>
              <a:t>Kilauea is an active shield volcano located on the </a:t>
            </a:r>
            <a:r>
              <a:rPr lang="en-AU" dirty="0" err="1"/>
              <a:t>southeastern</a:t>
            </a:r>
            <a:r>
              <a:rPr lang="en-AU" dirty="0"/>
              <a:t> side of the Big Island of Hawaii. It is one of the most active volcanoes on Earth and has been continuously erupting since 1983. </a:t>
            </a:r>
            <a:endParaRPr lang="en-US" dirty="0"/>
          </a:p>
        </p:txBody>
      </p:sp>
      <p:sp>
        <p:nvSpPr>
          <p:cNvPr id="9" name="TextBox 8">
            <a:extLst>
              <a:ext uri="{FF2B5EF4-FFF2-40B4-BE49-F238E27FC236}">
                <a16:creationId xmlns:a16="http://schemas.microsoft.com/office/drawing/2014/main" id="{680FC761-2551-8332-9B5E-FC8CCD30D699}"/>
              </a:ext>
            </a:extLst>
          </p:cNvPr>
          <p:cNvSpPr txBox="1"/>
          <p:nvPr/>
        </p:nvSpPr>
        <p:spPr>
          <a:xfrm>
            <a:off x="6477003" y="4617669"/>
            <a:ext cx="4671230" cy="1527919"/>
          </a:xfrm>
          <a:prstGeom prst="rect">
            <a:avLst/>
          </a:prstGeom>
          <a:noFill/>
        </p:spPr>
        <p:txBody>
          <a:bodyPr wrap="square">
            <a:spAutoFit/>
          </a:bodyPr>
          <a:lstStyle>
            <a:defPPr>
              <a:defRPr lang="en-US"/>
            </a:defPPr>
            <a:lvl1pPr>
              <a:lnSpc>
                <a:spcPct val="150000"/>
              </a:lnSpc>
              <a:defRPr sz="1600">
                <a:latin typeface="Roboto" panose="02000000000000000000" pitchFamily="2" charset="0"/>
                <a:ea typeface="Roboto" panose="02000000000000000000" pitchFamily="2" charset="0"/>
                <a:cs typeface="Roboto" panose="02000000000000000000" pitchFamily="2" charset="0"/>
              </a:defRPr>
            </a:lvl1pPr>
          </a:lstStyle>
          <a:p>
            <a:r>
              <a:rPr lang="en-AU" dirty="0"/>
              <a:t>With an elevation of about 1,247 meters (4,091 feet), Kilauea is relatively low in height compared to other major volcanoes, but its eruptions can be highly dynamic and unpredictable.</a:t>
            </a:r>
            <a:endParaRPr lang="en-US" dirty="0"/>
          </a:p>
        </p:txBody>
      </p:sp>
      <p:sp>
        <p:nvSpPr>
          <p:cNvPr id="11" name="TextBox 10">
            <a:extLst>
              <a:ext uri="{FF2B5EF4-FFF2-40B4-BE49-F238E27FC236}">
                <a16:creationId xmlns:a16="http://schemas.microsoft.com/office/drawing/2014/main" id="{0F231CDF-F2AA-7D77-C46F-3F49DA67F6C7}"/>
              </a:ext>
            </a:extLst>
          </p:cNvPr>
          <p:cNvSpPr txBox="1"/>
          <p:nvPr/>
        </p:nvSpPr>
        <p:spPr>
          <a:xfrm>
            <a:off x="915183" y="1249803"/>
            <a:ext cx="3236641" cy="989117"/>
          </a:xfrm>
          <a:prstGeom prst="rect">
            <a:avLst/>
          </a:prstGeom>
          <a:noFill/>
        </p:spPr>
        <p:txBody>
          <a:bodyPr wrap="square" rtlCol="0">
            <a:spAutoFit/>
          </a:bodyPr>
          <a:lstStyle/>
          <a:p>
            <a:pPr algn="ctr">
              <a:lnSpc>
                <a:spcPct val="80000"/>
              </a:lnSpc>
            </a:pPr>
            <a:r>
              <a:rPr lang="en-US" sz="7200" b="1" dirty="0">
                <a:solidFill>
                  <a:schemeClr val="bg1"/>
                </a:solidFill>
                <a:latin typeface="D-DIN Condensed" panose="020B0506030202030204" pitchFamily="34" charset="0"/>
                <a:ea typeface="STIX Two Math" panose="02020603050405020304" pitchFamily="18" charset="0"/>
                <a:cs typeface="Aharoni" panose="02010803020104030203" pitchFamily="2" charset="-79"/>
              </a:rPr>
              <a:t>KĪLAUEA</a:t>
            </a:r>
          </a:p>
        </p:txBody>
      </p:sp>
      <p:sp>
        <p:nvSpPr>
          <p:cNvPr id="12" name="TextBox 11">
            <a:extLst>
              <a:ext uri="{FF2B5EF4-FFF2-40B4-BE49-F238E27FC236}">
                <a16:creationId xmlns:a16="http://schemas.microsoft.com/office/drawing/2014/main" id="{44A9EAD0-5CF6-F831-1FF3-7C2191DBFDE5}"/>
              </a:ext>
            </a:extLst>
          </p:cNvPr>
          <p:cNvSpPr txBox="1"/>
          <p:nvPr/>
        </p:nvSpPr>
        <p:spPr>
          <a:xfrm>
            <a:off x="951266" y="2109323"/>
            <a:ext cx="3164475" cy="345223"/>
          </a:xfrm>
          <a:prstGeom prst="rect">
            <a:avLst/>
          </a:prstGeom>
          <a:noFill/>
        </p:spPr>
        <p:txBody>
          <a:bodyPr wrap="square" rtlCol="0">
            <a:spAutoFit/>
          </a:bodyPr>
          <a:lstStyle/>
          <a:p>
            <a:pPr algn="ctr">
              <a:lnSpc>
                <a:spcPct val="80000"/>
              </a:lnSpc>
            </a:pPr>
            <a:r>
              <a:rPr lang="en-US" sz="2000" dirty="0">
                <a:solidFill>
                  <a:schemeClr val="bg1"/>
                </a:solidFill>
                <a:latin typeface="Syne" pitchFamily="2" charset="77"/>
                <a:ea typeface="STIX Two Math" panose="02020603050405020304" pitchFamily="18" charset="0"/>
                <a:cs typeface="Aharoni" panose="02010803020104030203" pitchFamily="2" charset="-79"/>
              </a:rPr>
              <a:t>Elevation: 1,247 m</a:t>
            </a:r>
          </a:p>
        </p:txBody>
      </p:sp>
      <p:pic>
        <p:nvPicPr>
          <p:cNvPr id="18438" name="Picture 6" descr="Kilauea | Location, Eruptions, Height, Map, &amp; Facts | Britannica">
            <a:extLst>
              <a:ext uri="{FF2B5EF4-FFF2-40B4-BE49-F238E27FC236}">
                <a16:creationId xmlns:a16="http://schemas.microsoft.com/office/drawing/2014/main" id="{9A5C6B23-6068-FBA5-4C29-614BA10B0C6A}"/>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rot="296187">
            <a:off x="8210428" y="2363213"/>
            <a:ext cx="2940548" cy="19609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436" name="Picture 4" descr="Kilauea | Location, Eruptions, Height, Map, &amp; Facts | Britannica">
            <a:extLst>
              <a:ext uri="{FF2B5EF4-FFF2-40B4-BE49-F238E27FC236}">
                <a16:creationId xmlns:a16="http://schemas.microsoft.com/office/drawing/2014/main" id="{23B0ED47-80D8-57B0-3849-57D939AD7FDC}"/>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rot="21406592">
            <a:off x="6837902" y="888450"/>
            <a:ext cx="2815236" cy="18774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Rectangle 1">
            <a:extLst>
              <a:ext uri="{FF2B5EF4-FFF2-40B4-BE49-F238E27FC236}">
                <a16:creationId xmlns:a16="http://schemas.microsoft.com/office/drawing/2014/main" id="{5209D93C-7160-4017-74A7-E406A59C06FE}"/>
              </a:ext>
            </a:extLst>
          </p:cNvPr>
          <p:cNvSpPr/>
          <p:nvPr/>
        </p:nvSpPr>
        <p:spPr>
          <a:xfrm>
            <a:off x="4849272" y="0"/>
            <a:ext cx="1239472" cy="6858000"/>
          </a:xfrm>
          <a:prstGeom prst="rect">
            <a:avLst/>
          </a:prstGeom>
          <a:gradFill flip="none" rotWithShape="1">
            <a:gsLst>
              <a:gs pos="0">
                <a:schemeClr val="tx1">
                  <a:alpha val="0"/>
                </a:schemeClr>
              </a:gs>
              <a:gs pos="100000">
                <a:schemeClr val="tx1">
                  <a:alpha val="26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742740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5624C4-D76A-CF82-1429-9CF2025B46E2}"/>
              </a:ext>
            </a:extLst>
          </p:cNvPr>
          <p:cNvSpPr/>
          <p:nvPr/>
        </p:nvSpPr>
        <p:spPr>
          <a:xfrm>
            <a:off x="406402" y="394182"/>
            <a:ext cx="11364684" cy="606963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descr="An introduction to barcodes and barcoding technology | Labels &amp; Labeling">
            <a:extLst>
              <a:ext uri="{FF2B5EF4-FFF2-40B4-BE49-F238E27FC236}">
                <a16:creationId xmlns:a16="http://schemas.microsoft.com/office/drawing/2014/main" id="{63D3738E-1F72-C71B-C6F9-D56C0A679A8B}"/>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787345" y="13793124"/>
            <a:ext cx="1243255" cy="69476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C71C6D3D-768A-EC1D-DB80-ED67E196D06F}"/>
              </a:ext>
            </a:extLst>
          </p:cNvPr>
          <p:cNvGrpSpPr/>
          <p:nvPr/>
        </p:nvGrpSpPr>
        <p:grpSpPr>
          <a:xfrm>
            <a:off x="996730" y="1139765"/>
            <a:ext cx="3551022" cy="1185809"/>
            <a:chOff x="7887810" y="4967793"/>
            <a:chExt cx="3551022" cy="1185809"/>
          </a:xfrm>
        </p:grpSpPr>
        <p:sp>
          <p:nvSpPr>
            <p:cNvPr id="8" name="TextBox 7">
              <a:extLst>
                <a:ext uri="{FF2B5EF4-FFF2-40B4-BE49-F238E27FC236}">
                  <a16:creationId xmlns:a16="http://schemas.microsoft.com/office/drawing/2014/main" id="{2ED2B5AB-4BE9-DD88-40A2-63AFEB221236}"/>
                </a:ext>
              </a:extLst>
            </p:cNvPr>
            <p:cNvSpPr txBox="1"/>
            <p:nvPr/>
          </p:nvSpPr>
          <p:spPr>
            <a:xfrm>
              <a:off x="7887810" y="4967793"/>
              <a:ext cx="3551022" cy="978729"/>
            </a:xfrm>
            <a:prstGeom prst="rect">
              <a:avLst/>
            </a:prstGeom>
            <a:noFill/>
          </p:spPr>
          <p:txBody>
            <a:bodyPr wrap="square" rtlCol="0">
              <a:spAutoFit/>
            </a:bodyPr>
            <a:lstStyle/>
            <a:p>
              <a:pPr>
                <a:lnSpc>
                  <a:spcPct val="80000"/>
                </a:lnSpc>
              </a:pPr>
              <a:r>
                <a:rPr lang="en-US" sz="7200" b="1" dirty="0">
                  <a:latin typeface="D-DIN Condensed" panose="020B0506030202030204" pitchFamily="34" charset="0"/>
                  <a:ea typeface="STIX Two Math" panose="02020603050405020304" pitchFamily="18" charset="0"/>
                  <a:cs typeface="Aharoni" panose="02010803020104030203" pitchFamily="2" charset="-79"/>
                </a:rPr>
                <a:t>KRAKATOA</a:t>
              </a:r>
            </a:p>
          </p:txBody>
        </p:sp>
        <p:sp>
          <p:nvSpPr>
            <p:cNvPr id="10" name="TextBox 9">
              <a:extLst>
                <a:ext uri="{FF2B5EF4-FFF2-40B4-BE49-F238E27FC236}">
                  <a16:creationId xmlns:a16="http://schemas.microsoft.com/office/drawing/2014/main" id="{C10B45A3-898E-3285-C97C-F44E2435EC04}"/>
                </a:ext>
              </a:extLst>
            </p:cNvPr>
            <p:cNvSpPr txBox="1"/>
            <p:nvPr/>
          </p:nvSpPr>
          <p:spPr>
            <a:xfrm>
              <a:off x="7887810" y="5808379"/>
              <a:ext cx="3164475" cy="345223"/>
            </a:xfrm>
            <a:prstGeom prst="rect">
              <a:avLst/>
            </a:prstGeom>
            <a:noFill/>
          </p:spPr>
          <p:txBody>
            <a:bodyPr wrap="square" rtlCol="0">
              <a:spAutoFit/>
            </a:bodyPr>
            <a:lstStyle/>
            <a:p>
              <a:pPr>
                <a:lnSpc>
                  <a:spcPct val="80000"/>
                </a:lnSpc>
              </a:pPr>
              <a:r>
                <a:rPr lang="en-US" sz="2000" dirty="0">
                  <a:latin typeface="Syne" pitchFamily="2" charset="77"/>
                  <a:ea typeface="STIX Two Math" panose="02020603050405020304" pitchFamily="18" charset="0"/>
                  <a:cs typeface="Aharoni" panose="02010803020104030203" pitchFamily="2" charset="-79"/>
                </a:rPr>
                <a:t>Elevation: 813 m</a:t>
              </a:r>
            </a:p>
          </p:txBody>
        </p:sp>
      </p:grpSp>
      <p:pic>
        <p:nvPicPr>
          <p:cNvPr id="23554" name="Picture 2" descr="Krakatoa is still active, and we are not ready for the tsunamis another  eruption would generate">
            <a:extLst>
              <a:ext uri="{FF2B5EF4-FFF2-40B4-BE49-F238E27FC236}">
                <a16:creationId xmlns:a16="http://schemas.microsoft.com/office/drawing/2014/main" id="{9D9B62D2-6F59-8B29-C077-141BC7003A80}"/>
              </a:ext>
            </a:extLst>
          </p:cNvPr>
          <p:cNvPicPr>
            <a:picLocks noChangeAspect="1" noChangeArrowheads="1"/>
          </p:cNvPicPr>
          <p:nvPr/>
        </p:nvPicPr>
        <p:blipFill rotWithShape="1">
          <a:blip r:embed="rId4">
            <a:extLst>
              <a:ext uri="{28A0092B-C50C-407E-A947-70E740481C1C}">
                <a14:useLocalDpi xmlns:a14="http://schemas.microsoft.com/office/drawing/2010/main"/>
              </a:ext>
            </a:extLst>
          </a:blip>
          <a:srcRect/>
          <a:stretch/>
        </p:blipFill>
        <p:spPr bwMode="auto">
          <a:xfrm>
            <a:off x="6088744" y="394182"/>
            <a:ext cx="5682342" cy="606963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746A1C82-26C9-34C4-C753-46E715AB64F2}"/>
              </a:ext>
            </a:extLst>
          </p:cNvPr>
          <p:cNvSpPr txBox="1"/>
          <p:nvPr/>
        </p:nvSpPr>
        <p:spPr>
          <a:xfrm>
            <a:off x="996730" y="3214470"/>
            <a:ext cx="4403947" cy="2635914"/>
          </a:xfrm>
          <a:prstGeom prst="rect">
            <a:avLst/>
          </a:prstGeom>
          <a:noFill/>
        </p:spPr>
        <p:txBody>
          <a:bodyPr wrap="square">
            <a:spAutoFit/>
          </a:bodyPr>
          <a:lstStyle/>
          <a:p>
            <a:pPr>
              <a:lnSpc>
                <a:spcPct val="150000"/>
              </a:lnSpc>
            </a:pPr>
            <a:r>
              <a:rPr lang="en-AU" sz="1600" dirty="0">
                <a:latin typeface="Roboto" panose="02000000000000000000" pitchFamily="2" charset="0"/>
                <a:ea typeface="Roboto" panose="02000000000000000000" pitchFamily="2" charset="0"/>
                <a:cs typeface="Roboto" panose="02000000000000000000" pitchFamily="2" charset="0"/>
              </a:rPr>
              <a:t>Krakatoa, also known as Krakatau, is a volcanic island situated in the </a:t>
            </a:r>
            <a:r>
              <a:rPr lang="en-AU" sz="1600" dirty="0" err="1">
                <a:latin typeface="Roboto" panose="02000000000000000000" pitchFamily="2" charset="0"/>
                <a:ea typeface="Roboto" panose="02000000000000000000" pitchFamily="2" charset="0"/>
                <a:cs typeface="Roboto" panose="02000000000000000000" pitchFamily="2" charset="0"/>
              </a:rPr>
              <a:t>Sunda</a:t>
            </a:r>
            <a:r>
              <a:rPr lang="en-AU" sz="1600" dirty="0">
                <a:latin typeface="Roboto" panose="02000000000000000000" pitchFamily="2" charset="0"/>
                <a:ea typeface="Roboto" panose="02000000000000000000" pitchFamily="2" charset="0"/>
                <a:cs typeface="Roboto" panose="02000000000000000000" pitchFamily="2" charset="0"/>
              </a:rPr>
              <a:t> Strait, between the islands of Java and Sumatra in Indonesia. The volcano gained global notoriety due to its catastrophic eruption in 1883, considered one of the most powerful and deadly volcanic events in recorded history.</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16" name="Freeform 15">
            <a:extLst>
              <a:ext uri="{FF2B5EF4-FFF2-40B4-BE49-F238E27FC236}">
                <a16:creationId xmlns:a16="http://schemas.microsoft.com/office/drawing/2014/main" id="{38975534-3041-DA3B-CCA4-B6F51B03C5E4}"/>
              </a:ext>
            </a:extLst>
          </p:cNvPr>
          <p:cNvSpPr/>
          <p:nvPr/>
        </p:nvSpPr>
        <p:spPr>
          <a:xfrm>
            <a:off x="5370216" y="983556"/>
            <a:ext cx="1417130" cy="1993590"/>
          </a:xfrm>
          <a:custGeom>
            <a:avLst/>
            <a:gdLst>
              <a:gd name="connsiteX0" fmla="*/ 191274 w 1685923"/>
              <a:gd name="connsiteY0" fmla="*/ 219075 h 2371725"/>
              <a:gd name="connsiteX1" fmla="*/ 191274 w 1685923"/>
              <a:gd name="connsiteY1" fmla="*/ 2152649 h 2371725"/>
              <a:gd name="connsiteX2" fmla="*/ 1494648 w 1685923"/>
              <a:gd name="connsiteY2" fmla="*/ 2152649 h 2371725"/>
              <a:gd name="connsiteX3" fmla="*/ 1494648 w 1685923"/>
              <a:gd name="connsiteY3" fmla="*/ 219075 h 2371725"/>
              <a:gd name="connsiteX4" fmla="*/ 0 w 1685923"/>
              <a:gd name="connsiteY4" fmla="*/ 0 h 2371725"/>
              <a:gd name="connsiteX5" fmla="*/ 1685923 w 1685923"/>
              <a:gd name="connsiteY5" fmla="*/ 0 h 2371725"/>
              <a:gd name="connsiteX6" fmla="*/ 1685923 w 1685923"/>
              <a:gd name="connsiteY6" fmla="*/ 2371725 h 2371725"/>
              <a:gd name="connsiteX7" fmla="*/ 0 w 1685923"/>
              <a:gd name="connsiteY7" fmla="*/ 2371725 h 237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5923" h="2371725">
                <a:moveTo>
                  <a:pt x="191274" y="219075"/>
                </a:moveTo>
                <a:lnTo>
                  <a:pt x="191274" y="2152649"/>
                </a:lnTo>
                <a:lnTo>
                  <a:pt x="1494648" y="2152649"/>
                </a:lnTo>
                <a:lnTo>
                  <a:pt x="1494648" y="219075"/>
                </a:lnTo>
                <a:close/>
                <a:moveTo>
                  <a:pt x="0" y="0"/>
                </a:moveTo>
                <a:lnTo>
                  <a:pt x="1685923" y="0"/>
                </a:lnTo>
                <a:lnTo>
                  <a:pt x="1685923" y="2371725"/>
                </a:lnTo>
                <a:lnTo>
                  <a:pt x="0" y="2371725"/>
                </a:lnTo>
                <a:close/>
              </a:path>
            </a:pathLst>
          </a:custGeom>
          <a:solidFill>
            <a:srgbClr val="FDD30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Rectangle 2">
            <a:extLst>
              <a:ext uri="{FF2B5EF4-FFF2-40B4-BE49-F238E27FC236}">
                <a16:creationId xmlns:a16="http://schemas.microsoft.com/office/drawing/2014/main" id="{61FA9D3D-D23C-1BE3-F384-6E57F2853878}"/>
              </a:ext>
            </a:extLst>
          </p:cNvPr>
          <p:cNvSpPr/>
          <p:nvPr/>
        </p:nvSpPr>
        <p:spPr>
          <a:xfrm>
            <a:off x="4849272" y="0"/>
            <a:ext cx="1239472" cy="6858000"/>
          </a:xfrm>
          <a:prstGeom prst="rect">
            <a:avLst/>
          </a:prstGeom>
          <a:gradFill flip="none" rotWithShape="1">
            <a:gsLst>
              <a:gs pos="0">
                <a:schemeClr val="tx1">
                  <a:alpha val="0"/>
                </a:schemeClr>
              </a:gs>
              <a:gs pos="100000">
                <a:schemeClr val="tx1">
                  <a:alpha val="26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039532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247</Words>
  <Application>Microsoft Macintosh PowerPoint</Application>
  <PresentationFormat>Widescreen</PresentationFormat>
  <Paragraphs>37</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Arial</vt:lpstr>
      <vt:lpstr>D-DIN</vt:lpstr>
      <vt:lpstr>Calibri</vt:lpstr>
      <vt:lpstr>D-DIN Condensed</vt:lpstr>
      <vt:lpstr>Syne</vt:lpstr>
      <vt:lpstr>Roboto</vt:lpstr>
      <vt:lpstr>Walbaum Display</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Apparent Office16</dc:creator>
  <cp:lastModifiedBy>Luis Urrutia</cp:lastModifiedBy>
  <cp:revision>7</cp:revision>
  <dcterms:created xsi:type="dcterms:W3CDTF">2023-07-27T02:09:45Z</dcterms:created>
  <dcterms:modified xsi:type="dcterms:W3CDTF">2024-02-27T06:55:13Z</dcterms:modified>
</cp:coreProperties>
</file>